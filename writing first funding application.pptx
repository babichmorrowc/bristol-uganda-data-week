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7" r:id="rId3"/>
    <p:sldId id="270" r:id="rId4"/>
    <p:sldId id="283" r:id="rId5"/>
    <p:sldId id="272" r:id="rId6"/>
    <p:sldId id="257" r:id="rId7"/>
    <p:sldId id="267" r:id="rId8"/>
    <p:sldId id="284" r:id="rId9"/>
    <p:sldId id="258" r:id="rId10"/>
    <p:sldId id="266" r:id="rId11"/>
    <p:sldId id="260" r:id="rId12"/>
    <p:sldId id="262" r:id="rId13"/>
    <p:sldId id="277" r:id="rId14"/>
    <p:sldId id="261" r:id="rId15"/>
    <p:sldId id="279" r:id="rId16"/>
    <p:sldId id="273" r:id="rId17"/>
    <p:sldId id="285" r:id="rId18"/>
    <p:sldId id="275" r:id="rId19"/>
    <p:sldId id="280" r:id="rId20"/>
    <p:sldId id="28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2"/>
    <p:restoredTop sz="94678"/>
  </p:normalViewPr>
  <p:slideViewPr>
    <p:cSldViewPr snapToGrid="0">
      <p:cViewPr varScale="1">
        <p:scale>
          <a:sx n="117" d="100"/>
          <a:sy n="117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F82CA-7CF3-A9BC-8A19-8778CD78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A4CF82-1218-217D-EC87-BA416205A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79A7E-902F-0054-96FF-1249D526D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640BE-41C6-2D4C-82F5-F3C1B0086B12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E62AF-EFE8-75DA-8A56-5FDE9575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9077B-589A-DD69-915C-9E7B2644E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FE79-7738-124B-932C-5246EC6FE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84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D0369-609D-22C2-8AE5-8C9342D6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EBB5D-F031-D5C0-D467-DA5F6D0A4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57870-0F1C-55BB-4F4A-099D0DD4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640BE-41C6-2D4C-82F5-F3C1B0086B12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76777-DF51-D235-4511-8DDECA042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44FB0-3697-FC5F-BD07-E878902B3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FE79-7738-124B-932C-5246EC6FE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00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5B4C-57FE-B3B7-3477-759D95CB2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E25E8-14A1-18B7-FDD0-73DE92D6F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07F16-6107-D0C8-0109-A0C6D9D7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640BE-41C6-2D4C-82F5-F3C1B0086B12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30BC3-C099-1AEE-EA56-52DF9E378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469E4-FF2A-A5B6-D233-82D598891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FE79-7738-124B-932C-5246EC6FE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30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AE0C9-A508-499F-B649-B2EDCBC5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3D4A1-6BE5-2617-F641-29E780732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D6182-792A-E725-6270-0460C3E5B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FEF24-8B95-86A1-6856-CE1C94EBE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640BE-41C6-2D4C-82F5-F3C1B0086B12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3F153-BEC0-D147-7349-F92A063E0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57633-86DD-2542-EBAF-370DE6D7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FE79-7738-124B-932C-5246EC6FE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46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BCCDE-BF99-81DE-7939-7622C67C2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48D96-D933-2EEB-AD3D-EE1E638D3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75ED1-8633-6483-425E-22947B1DC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CAA74-E5B6-AA11-DDB1-B6F8D586D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5E433A-0F23-09BA-EEA0-61969B8DEA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D5CDA-E487-8269-7DE8-E430415D4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640BE-41C6-2D4C-82F5-F3C1B0086B12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A5CFD-A18B-E6FA-AE7D-BF576C15A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A43EAB-C49D-BB7A-84FB-6032D1FA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FE79-7738-124B-932C-5246EC6FE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11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BB361-9ECB-E929-433C-7476ABA28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7265C-199D-FDBA-EB20-FD5016F15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640BE-41C6-2D4C-82F5-F3C1B0086B12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834A6D-2988-1B1E-FB97-851572954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316B6-6284-2402-00EB-F40DB283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FE79-7738-124B-932C-5246EC6FE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73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145267-FA92-EB88-EFCC-9D7EC716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640BE-41C6-2D4C-82F5-F3C1B0086B12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A1AFDC-088C-15FF-279C-D4D87DD07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B556A-F0C5-B3EC-8807-195DABE8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FE79-7738-124B-932C-5246EC6FE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02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B93C2-25FA-0047-A809-24E387158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EA9D1-EF10-8555-F8FF-179644AA2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D1A76-EB0C-C723-89E4-9769B2213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32EF0-B64A-FF22-3598-26762F95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640BE-41C6-2D4C-82F5-F3C1B0086B12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6AE2E-5664-0CB8-7D72-39BFCB852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6DD55-6011-E7B7-7C70-50788F50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FE79-7738-124B-932C-5246EC6FE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10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C0D0B-62E9-000D-ED65-175A8591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EB347B-9AA5-0D41-DA27-2C4A0153D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00029-55FC-3610-3AD2-1457D0990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A5F0D-1D94-3E7C-9C16-5C73649DF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640BE-41C6-2D4C-82F5-F3C1B0086B12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3C6CA-6801-9C57-B01C-EBB6A6139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B7D13-789D-5222-BB18-055C7AD89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FE79-7738-124B-932C-5246EC6FE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9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D856E-48B0-5F9A-4485-7995B9EB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04E20-EF42-38BB-3983-CB256A9CF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8B6C9-6CFA-116A-F2BB-C0C8D0E9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640BE-41C6-2D4C-82F5-F3C1B0086B12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25631-0F46-F48F-FAE1-94251D3B0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19EF1-48E5-2915-C3F2-F231E2EAE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FE79-7738-124B-932C-5246EC6FE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5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89F5C4-A15D-38AD-777D-6A28BD8B0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31C40-7453-B96F-6082-8E57FEF87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B6D83-00E3-80A3-BF1E-94955D7E7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640BE-41C6-2D4C-82F5-F3C1B0086B12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2FF7E-1581-FA76-02CC-F096B51B7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5D73F-B46A-2E33-322F-F479BEAEF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0FE79-7738-124B-932C-5246EC6FE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E3E952-7A43-FAFC-7936-8E66D243C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5FA96-5DFA-7CB4-D829-9D1FEBCD7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DADB0-D517-7C58-70D2-501BE5DD5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640BE-41C6-2D4C-82F5-F3C1B0086B12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EB00E-810F-15D8-D087-FECB4AA40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72473-7E8A-E488-2B92-B15D66E20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90FE79-7738-124B-932C-5246EC6FE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8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oyalsociety.org/grants/international-exchanges/" TargetMode="External"/><Relationship Id="rId2" Type="http://schemas.openxmlformats.org/officeDocument/2006/relationships/hyperlink" Target="https://uob.sharepoint.com/sites/elizabeth-blackwell/SitePages/funding.asp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ellcome.org/research-funding/schemes/wellcome-discovery-awards" TargetMode="External"/><Relationship Id="rId5" Type="http://schemas.openxmlformats.org/officeDocument/2006/relationships/hyperlink" Target="https://www.nihr.ac.uk/global-health/funding-programmes/ghr-themed" TargetMode="External"/><Relationship Id="rId4" Type="http://schemas.openxmlformats.org/officeDocument/2006/relationships/hyperlink" Target="https://www.lms.ac.uk/grants/mathematics-in-africa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81FA-93ED-D88B-49C5-09F12204A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00584"/>
            <a:ext cx="9144000" cy="2387600"/>
          </a:xfrm>
        </p:spPr>
        <p:txBody>
          <a:bodyPr/>
          <a:lstStyle/>
          <a:p>
            <a:r>
              <a:rPr lang="en-US" dirty="0"/>
              <a:t>Writing your first grant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B9B3E4-0B0D-3EF2-8366-072670850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0259"/>
            <a:ext cx="9144000" cy="1655762"/>
          </a:xfrm>
        </p:spPr>
        <p:txBody>
          <a:bodyPr/>
          <a:lstStyle/>
          <a:p>
            <a:r>
              <a:rPr lang="en-US" dirty="0"/>
              <a:t>Ettie Unwin</a:t>
            </a:r>
          </a:p>
          <a:p>
            <a:r>
              <a:rPr lang="en-US" dirty="0"/>
              <a:t>8</a:t>
            </a:r>
            <a:r>
              <a:rPr lang="en-US" baseline="30000" dirty="0"/>
              <a:t>th</a:t>
            </a:r>
            <a:r>
              <a:rPr lang="en-US" dirty="0"/>
              <a:t> June 2026</a:t>
            </a:r>
          </a:p>
        </p:txBody>
      </p:sp>
    </p:spTree>
    <p:extLst>
      <p:ext uri="{BB962C8B-B14F-4D97-AF65-F5344CB8AC3E}">
        <p14:creationId xmlns:p14="http://schemas.microsoft.com/office/powerpoint/2010/main" val="1486835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F27AC-5C52-9D8B-CD94-A7222D350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little bit 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01D89-2840-9DB1-1916-6EAFD0071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00" y="1552685"/>
            <a:ext cx="5851093" cy="422027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PhD in Engineering at the University of Cambridge looking at quantifying uncertainty.</a:t>
            </a:r>
          </a:p>
          <a:p>
            <a:r>
              <a:rPr lang="en-US" dirty="0"/>
              <a:t>Postdoc and fellowship at Imperial College London developing novel methods for outbreak response.</a:t>
            </a:r>
          </a:p>
          <a:p>
            <a:r>
              <a:rPr lang="en-US" dirty="0"/>
              <a:t>Member of ICL Ebola and COVID-19 response team</a:t>
            </a:r>
          </a:p>
          <a:p>
            <a:r>
              <a:rPr lang="en-US" dirty="0"/>
              <a:t>Senior Lecturer in Statistics at University of Bristol</a:t>
            </a:r>
          </a:p>
          <a:p>
            <a:r>
              <a:rPr lang="en-US" dirty="0"/>
              <a:t>Passionate about capacity building!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17F37-14D3-892D-70F3-55D7C093C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659" y="1690688"/>
            <a:ext cx="4956941" cy="341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2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3AFE9-B703-7B85-C978-EAF6AA626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Sorry in advance that it’s a bit UK specific….</a:t>
            </a:r>
            <a:br>
              <a:rPr lang="en-US" dirty="0"/>
            </a:br>
            <a:r>
              <a:rPr lang="en-US" sz="2800" dirty="0"/>
              <a:t>There might be other funders e.g. in USA that you might be eligible for that I don’t know</a:t>
            </a:r>
          </a:p>
        </p:txBody>
      </p:sp>
    </p:spTree>
    <p:extLst>
      <p:ext uri="{BB962C8B-B14F-4D97-AF65-F5344CB8AC3E}">
        <p14:creationId xmlns:p14="http://schemas.microsoft.com/office/powerpoint/2010/main" val="425635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5447A3-CA14-F982-F5F4-0802A2805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apply for funding?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89B3F4-3728-9828-4A12-7DB4DE670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1086" cy="4351338"/>
          </a:xfrm>
        </p:spPr>
        <p:txBody>
          <a:bodyPr/>
          <a:lstStyle/>
          <a:p>
            <a:r>
              <a:rPr lang="en-US" dirty="0"/>
              <a:t>To undertake a research project</a:t>
            </a:r>
          </a:p>
          <a:p>
            <a:r>
              <a:rPr lang="en-US" dirty="0"/>
              <a:t>To explore / develop new collaboration</a:t>
            </a:r>
          </a:p>
          <a:p>
            <a:r>
              <a:rPr lang="en-US" dirty="0"/>
              <a:t>To get training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7069D9-37E6-C320-66FF-4486BBC905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962"/>
          <a:stretch>
            <a:fillRect/>
          </a:stretch>
        </p:blipFill>
        <p:spPr>
          <a:xfrm>
            <a:off x="6449290" y="2870344"/>
            <a:ext cx="5419585" cy="231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59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B9A48-64A8-E8AD-D23C-09A746DED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UK funding landscape</a:t>
            </a:r>
          </a:p>
        </p:txBody>
      </p:sp>
      <p:pic>
        <p:nvPicPr>
          <p:cNvPr id="12" name="Content Placeholder 11" descr="Several logos of various colors&#10;&#10;AI-generated content may be incorrect.">
            <a:extLst>
              <a:ext uri="{FF2B5EF4-FFF2-40B4-BE49-F238E27FC236}">
                <a16:creationId xmlns:a16="http://schemas.microsoft.com/office/drawing/2014/main" id="{E6325EBA-6161-FD67-6210-77523A374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562" y="1794416"/>
            <a:ext cx="6041683" cy="3633066"/>
          </a:xfrm>
        </p:spPr>
      </p:pic>
      <p:pic>
        <p:nvPicPr>
          <p:cNvPr id="14" name="Picture 13" descr="A white letter w on a black background&#10;&#10;AI-generated content may be incorrect.">
            <a:extLst>
              <a:ext uri="{FF2B5EF4-FFF2-40B4-BE49-F238E27FC236}">
                <a16:creationId xmlns:a16="http://schemas.microsoft.com/office/drawing/2014/main" id="{A2FA8EA3-5085-1F3B-B6F1-ABCB0678F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933" y="797539"/>
            <a:ext cx="1786298" cy="1786298"/>
          </a:xfrm>
          <a:prstGeom prst="rect">
            <a:avLst/>
          </a:prstGeom>
        </p:spPr>
      </p:pic>
      <p:pic>
        <p:nvPicPr>
          <p:cNvPr id="16" name="Picture 15" descr="A red background with white text&#10;&#10;AI-generated content may be incorrect.">
            <a:extLst>
              <a:ext uri="{FF2B5EF4-FFF2-40B4-BE49-F238E27FC236}">
                <a16:creationId xmlns:a16="http://schemas.microsoft.com/office/drawing/2014/main" id="{8A4753E1-E1ED-82A2-C7B6-30D24BDDA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919" y="1993941"/>
            <a:ext cx="1786298" cy="1786298"/>
          </a:xfrm>
          <a:prstGeom prst="rect">
            <a:avLst/>
          </a:prstGeom>
        </p:spPr>
      </p:pic>
      <p:pic>
        <p:nvPicPr>
          <p:cNvPr id="22" name="Picture 21" descr="A logo with orange dots&#10;&#10;AI-generated content may be incorrect.">
            <a:extLst>
              <a:ext uri="{FF2B5EF4-FFF2-40B4-BE49-F238E27FC236}">
                <a16:creationId xmlns:a16="http://schemas.microsoft.com/office/drawing/2014/main" id="{E9D99E2B-7764-127B-5BDF-024F7C2770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911329"/>
            <a:ext cx="1670476" cy="1676400"/>
          </a:xfrm>
          <a:prstGeom prst="rect">
            <a:avLst/>
          </a:prstGeom>
        </p:spPr>
      </p:pic>
      <p:pic>
        <p:nvPicPr>
          <p:cNvPr id="24" name="Picture 23" descr="A close-up of a logo&#10;&#10;AI-generated content may be incorrect.">
            <a:extLst>
              <a:ext uri="{FF2B5EF4-FFF2-40B4-BE49-F238E27FC236}">
                <a16:creationId xmlns:a16="http://schemas.microsoft.com/office/drawing/2014/main" id="{CE4CC0B2-21A4-15EA-505E-2625CE0226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0627" y="3634873"/>
            <a:ext cx="2008909" cy="11300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7E84DD-B0C3-4275-617F-F67D596718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3019" y="5612720"/>
            <a:ext cx="44958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139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0C20-0205-2734-DC79-4AC53D33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the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1A596-C93D-CC75-537D-FA6E17E9D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scheme is different – want to find the right scheme for what you are trying to do. </a:t>
            </a:r>
          </a:p>
          <a:p>
            <a:r>
              <a:rPr lang="en-US" dirty="0"/>
              <a:t>Want to start thinking about grant ideas around 3-6 months before you apply to make sure you can put in a competitive application.</a:t>
            </a:r>
          </a:p>
          <a:p>
            <a:r>
              <a:rPr lang="en-US" dirty="0"/>
              <a:t>Schemes can have quite complex eligibility requirements so make sure you read all the guidance.</a:t>
            </a:r>
          </a:p>
          <a:p>
            <a:r>
              <a:rPr lang="en-US" dirty="0"/>
              <a:t>You need to check who can apply for the call and make sure you have the necessary collaborators.</a:t>
            </a:r>
          </a:p>
        </p:txBody>
      </p:sp>
    </p:spTree>
    <p:extLst>
      <p:ext uri="{BB962C8B-B14F-4D97-AF65-F5344CB8AC3E}">
        <p14:creationId xmlns:p14="http://schemas.microsoft.com/office/powerpoint/2010/main" val="1035260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867A-F475-31D7-1952-541B7543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D3E33-E911-DE5C-2E7B-F848A74D2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UoB AI for health </a:t>
            </a:r>
            <a:r>
              <a:rPr lang="en-US" dirty="0">
                <a:hlinkClick r:id="rId2"/>
              </a:rPr>
              <a:t>https://uob.sharepoint.com/sites/elizabeth-blackwell/SitePages/funding.aspx</a:t>
            </a:r>
            <a:endParaRPr lang="en-US" dirty="0"/>
          </a:p>
          <a:p>
            <a:r>
              <a:rPr lang="en-US" dirty="0"/>
              <a:t>Royal Society travel grant </a:t>
            </a:r>
            <a:r>
              <a:rPr lang="en-US" dirty="0">
                <a:hlinkClick r:id="rId3"/>
              </a:rPr>
              <a:t>https://royalsociety.org/grants/international-exchanges/</a:t>
            </a:r>
            <a:endParaRPr lang="en-US" dirty="0"/>
          </a:p>
          <a:p>
            <a:r>
              <a:rPr lang="en-US" dirty="0"/>
              <a:t>London Mathematics Society </a:t>
            </a:r>
            <a:r>
              <a:rPr lang="en-US" dirty="0">
                <a:hlinkClick r:id="rId4"/>
              </a:rPr>
              <a:t>https://www.lms.ac.uk/grants/mathematics-in-africa</a:t>
            </a:r>
            <a:endParaRPr lang="en-US" dirty="0"/>
          </a:p>
          <a:p>
            <a:r>
              <a:rPr lang="en-US" dirty="0"/>
              <a:t>NIHR global health themed </a:t>
            </a:r>
            <a:r>
              <a:rPr lang="en-US" dirty="0">
                <a:hlinkClick r:id="rId5"/>
              </a:rPr>
              <a:t>https://www.nihr.ac.uk/global-health/funding-programmes/ghr-themed</a:t>
            </a:r>
            <a:endParaRPr lang="en-US" dirty="0"/>
          </a:p>
          <a:p>
            <a:r>
              <a:rPr lang="en-US" dirty="0"/>
              <a:t>Horizon Europe </a:t>
            </a:r>
          </a:p>
          <a:p>
            <a:r>
              <a:rPr lang="en-US" dirty="0" err="1"/>
              <a:t>Wellcome</a:t>
            </a:r>
            <a:r>
              <a:rPr lang="en-US" dirty="0"/>
              <a:t> discovery </a:t>
            </a:r>
            <a:r>
              <a:rPr lang="en-US" dirty="0">
                <a:hlinkClick r:id="rId6"/>
              </a:rPr>
              <a:t>https://wellcome.org/research-funding/schemes/wellcome-discovery-awards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316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B83C71-3DF6-7190-C4AA-78E3828D0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E86B1-B42E-3B06-0140-F310895EB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94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E17D2-1028-8A39-F745-619744E4A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5F7A2-565E-95B9-847A-397C1EE9D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329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Your opportunity to communicate your science to the review panel. </a:t>
            </a:r>
          </a:p>
          <a:p>
            <a:pPr marL="0" indent="0">
              <a:buNone/>
            </a:pPr>
            <a:r>
              <a:rPr lang="en-US" dirty="0"/>
              <a:t>How technical it should be, again, depends on the scheme. </a:t>
            </a:r>
          </a:p>
          <a:p>
            <a:pPr marL="0" indent="0">
              <a:buNone/>
            </a:pPr>
            <a:r>
              <a:rPr lang="en-US" dirty="0"/>
              <a:t>How much detail depends a lot on the scheme. </a:t>
            </a:r>
          </a:p>
          <a:p>
            <a:r>
              <a:rPr lang="en-US" dirty="0"/>
              <a:t> ERC starting grant 19 pages in total about science, some 4 pages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Good to structure your proposal logically.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5C92E-D5C0-85B2-6D1F-4791D2251C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283"/>
          <a:stretch>
            <a:fillRect/>
          </a:stretch>
        </p:blipFill>
        <p:spPr>
          <a:xfrm>
            <a:off x="7290954" y="2199698"/>
            <a:ext cx="5804179" cy="316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136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DB92-877C-6F3A-D3B2-74A751CE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D88EF-0299-1C42-8581-6A01A3FB9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73291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dirty="0"/>
              <a:t>Two formats now: A traditional one or a narrative CV.</a:t>
            </a:r>
          </a:p>
          <a:p>
            <a:pPr marL="0" indent="0">
              <a:buNone/>
            </a:pPr>
            <a:r>
              <a:rPr lang="en-US" sz="3300" dirty="0">
                <a:effectLst/>
                <a:ea typeface="Arial" panose="020B0604020202020204" pitchFamily="34" charset="0"/>
              </a:rPr>
              <a:t>Some </a:t>
            </a:r>
            <a:r>
              <a:rPr lang="en-US" sz="3300" dirty="0">
                <a:ea typeface="Arial" panose="020B0604020202020204" pitchFamily="34" charset="0"/>
              </a:rPr>
              <a:t>like a narrative of how team have worked together / evidence out working together already.</a:t>
            </a:r>
            <a:endParaRPr lang="en-GB" sz="3300" dirty="0">
              <a:effectLst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endParaRPr lang="en-GB" sz="1900" b="1" dirty="0">
              <a:effectLst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900" b="1" dirty="0">
                <a:effectLst/>
                <a:ea typeface="Arial" panose="020B0604020202020204" pitchFamily="34" charset="0"/>
              </a:rPr>
              <a:t>UKRI </a:t>
            </a:r>
            <a:r>
              <a:rPr lang="en-GB" sz="1900" b="1" dirty="0">
                <a:solidFill>
                  <a:srgbClr val="1F1F1F"/>
                </a:solidFill>
                <a:effectLst/>
                <a:highlight>
                  <a:srgbClr val="FFFFFF"/>
                </a:highlight>
                <a:ea typeface="Roboto" panose="02000000000000000000" pitchFamily="2" charset="0"/>
                <a:cs typeface="Roboto" panose="02000000000000000000" pitchFamily="2" charset="0"/>
              </a:rPr>
              <a:t>R4RI modules </a:t>
            </a:r>
            <a:endParaRPr lang="en-GB" sz="1900" b="1" dirty="0">
              <a:effectLst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900" b="1" dirty="0">
                <a:effectLst/>
                <a:ea typeface="Arial" panose="020B0604020202020204" pitchFamily="34" charset="0"/>
              </a:rPr>
              <a:t>Module 1 – Contributions to the generation of new ideas, tools, methodologies or knowledge</a:t>
            </a:r>
            <a:r>
              <a:rPr lang="en-GB" sz="1900" dirty="0">
                <a:effectLst/>
                <a:ea typeface="Arial" panose="020B0604020202020204" pitchFamily="34" charset="0"/>
              </a:rPr>
              <a:t> </a:t>
            </a:r>
          </a:p>
          <a:p>
            <a:pPr>
              <a:lnSpc>
                <a:spcPct val="115000"/>
              </a:lnSpc>
              <a:buNone/>
            </a:pPr>
            <a:r>
              <a:rPr lang="en-GB" sz="1900" b="1" dirty="0">
                <a:effectLst/>
                <a:ea typeface="Arial" panose="020B0604020202020204" pitchFamily="34" charset="0"/>
              </a:rPr>
              <a:t>Module 2 – The development of others and maintenance of effective working relationships</a:t>
            </a:r>
          </a:p>
          <a:p>
            <a:pPr>
              <a:lnSpc>
                <a:spcPct val="115000"/>
              </a:lnSpc>
              <a:buNone/>
            </a:pPr>
            <a:r>
              <a:rPr lang="en-GB" sz="1900" b="1" dirty="0">
                <a:effectLst/>
                <a:ea typeface="Arial" panose="020B0604020202020204" pitchFamily="34" charset="0"/>
              </a:rPr>
              <a:t>Module 3 – Contributions to the wider research and innovation community </a:t>
            </a:r>
          </a:p>
          <a:p>
            <a:pPr>
              <a:lnSpc>
                <a:spcPct val="115000"/>
              </a:lnSpc>
              <a:buNone/>
            </a:pPr>
            <a:r>
              <a:rPr lang="en-GB" sz="1900" b="1" dirty="0">
                <a:effectLst/>
                <a:ea typeface="Arial" panose="020B0604020202020204" pitchFamily="34" charset="0"/>
              </a:rPr>
              <a:t>Module 4 – Contributions to broader research/innovation-users and audiences and towards wider societal benefit</a:t>
            </a:r>
            <a:endParaRPr lang="en-GB" sz="1900" dirty="0">
              <a:effectLst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endParaRPr lang="en-GB" sz="1900" dirty="0">
              <a:effectLst/>
              <a:ea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0E819-620C-3585-4BA2-028E67CA01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90" t="18226" r="20143"/>
          <a:stretch>
            <a:fillRect/>
          </a:stretch>
        </p:blipFill>
        <p:spPr>
          <a:xfrm>
            <a:off x="8811491" y="2157845"/>
            <a:ext cx="3196911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712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AD8D-85B4-7398-323B-709FCF3D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Letters of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31336-64F2-DD91-F1EF-2778CC321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is helpful to partner with </a:t>
            </a:r>
            <a:r>
              <a:rPr lang="en-US" dirty="0" err="1"/>
              <a:t>organisations</a:t>
            </a:r>
            <a:r>
              <a:rPr lang="en-US" dirty="0"/>
              <a:t> / individuals to support your applications.</a:t>
            </a:r>
          </a:p>
          <a:p>
            <a:pPr marL="0" indent="0">
              <a:buNone/>
            </a:pPr>
            <a:r>
              <a:rPr lang="en-US" dirty="0"/>
              <a:t>Main idea is they write letters of support</a:t>
            </a:r>
          </a:p>
          <a:p>
            <a:r>
              <a:rPr lang="en-US" dirty="0"/>
              <a:t>Guidance will tell you what sort of support letters they want</a:t>
            </a:r>
          </a:p>
          <a:p>
            <a:r>
              <a:rPr lang="en-US" dirty="0"/>
              <a:t>UKRI project partners are supposed to give you something.</a:t>
            </a:r>
          </a:p>
        </p:txBody>
      </p:sp>
    </p:spTree>
    <p:extLst>
      <p:ext uri="{BB962C8B-B14F-4D97-AF65-F5344CB8AC3E}">
        <p14:creationId xmlns:p14="http://schemas.microsoft.com/office/powerpoint/2010/main" val="3395592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E8EC-E9BF-AD7E-3C52-DCCB04C98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Mentors / Advisory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3AA74-FE14-99D8-8460-2EDB25325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 you guidance sometimes technical, sometimes professional development.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Name people but don’t need official support letters.</a:t>
            </a:r>
          </a:p>
        </p:txBody>
      </p:sp>
    </p:spTree>
    <p:extLst>
      <p:ext uri="{BB962C8B-B14F-4D97-AF65-F5344CB8AC3E}">
        <p14:creationId xmlns:p14="http://schemas.microsoft.com/office/powerpoint/2010/main" val="3271021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D136A-2F9B-3CEE-67FA-0C8CC7D13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management plan / Research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AFD44-30D8-FAA9-2334-4EC8EAC41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work with human data a lot of the time.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Often have to write data management plans about how we will store / manage data. There are sometimes templates for this.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Often also have to write information about ethics.  Don’t always need approval in place already but a plan on how to apply is necessary.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Universities often have teams of people who can help you with this.</a:t>
            </a:r>
          </a:p>
        </p:txBody>
      </p:sp>
    </p:spTree>
    <p:extLst>
      <p:ext uri="{BB962C8B-B14F-4D97-AF65-F5344CB8AC3E}">
        <p14:creationId xmlns:p14="http://schemas.microsoft.com/office/powerpoint/2010/main" val="3160364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16C4E-AF53-49F9-65BE-8469AC64E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86A50-0698-EB55-EA14-2364E1CDD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3118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will most of the time be expected to submit costings for your application: Staff costs, equipment, travel…</a:t>
            </a:r>
          </a:p>
          <a:p>
            <a:pPr marL="0" indent="0">
              <a:buNone/>
            </a:pPr>
            <a:r>
              <a:rPr lang="en-US" dirty="0"/>
              <a:t>Very clear guidance on what can and can’t be costed.</a:t>
            </a:r>
          </a:p>
          <a:p>
            <a:pPr marL="0" indent="0">
              <a:buNone/>
            </a:pPr>
            <a:r>
              <a:rPr lang="en-US" dirty="0"/>
              <a:t>Usually need external help from someone in your university.</a:t>
            </a:r>
          </a:p>
          <a:p>
            <a:pPr marL="0" indent="0">
              <a:buNone/>
            </a:pPr>
            <a:r>
              <a:rPr lang="en-US" dirty="0"/>
              <a:t>Costs need to be approved.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CC151-0568-3964-855F-CF937DA5D4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21" t="21703" r="20499"/>
          <a:stretch>
            <a:fillRect/>
          </a:stretch>
        </p:blipFill>
        <p:spPr>
          <a:xfrm>
            <a:off x="8113276" y="2111304"/>
            <a:ext cx="3967887" cy="349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62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98C7-8FB8-B64F-CC78-AAC4646E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Worktribe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37B291-D85B-3966-486B-6148D86E2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670" b="5802"/>
          <a:stretch/>
        </p:blipFill>
        <p:spPr>
          <a:xfrm>
            <a:off x="1348991" y="1344705"/>
            <a:ext cx="9494018" cy="5027145"/>
          </a:xfrm>
        </p:spPr>
      </p:pic>
    </p:spTree>
    <p:extLst>
      <p:ext uri="{BB962C8B-B14F-4D97-AF65-F5344CB8AC3E}">
        <p14:creationId xmlns:p14="http://schemas.microsoft.com/office/powerpoint/2010/main" val="1815865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7F57-4B1E-62E7-3BEF-91129D5DA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607D8-8D00-3102-EC24-3789C2C6C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universities, you need to submit around a week before the funder deadline so the university / submitting organisation has time to check everything.</a:t>
            </a:r>
          </a:p>
          <a:p>
            <a:r>
              <a:rPr lang="en-US" dirty="0"/>
              <a:t>Often you press submit and it gets sent to somebody else in the university / submitting organisation to finally submit.</a:t>
            </a:r>
          </a:p>
        </p:txBody>
      </p:sp>
    </p:spTree>
    <p:extLst>
      <p:ext uri="{BB962C8B-B14F-4D97-AF65-F5344CB8AC3E}">
        <p14:creationId xmlns:p14="http://schemas.microsoft.com/office/powerpoint/2010/main" val="1509281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2F46DE-6991-7DDB-2684-505D9C0D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process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833EAF-83DB-FE84-ADAD-46D87C046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7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2CA1-9C76-5ACD-5B53-447DB3E0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2BCA-46C5-98D7-81F7-83245714C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Your review is often sent out to expert reviewers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sometimes suggest / ask for some reviewers not to review proposal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Sometimes you get a chance to respond to reviewers</a:t>
            </a:r>
          </a:p>
          <a:p>
            <a:r>
              <a:rPr lang="en-US" dirty="0"/>
              <a:t>UKRI written response</a:t>
            </a:r>
          </a:p>
          <a:p>
            <a:r>
              <a:rPr lang="en-US" dirty="0" err="1"/>
              <a:t>Wellcome</a:t>
            </a:r>
            <a:r>
              <a:rPr lang="en-US" dirty="0"/>
              <a:t> forms part of interview</a:t>
            </a:r>
          </a:p>
        </p:txBody>
      </p:sp>
    </p:spTree>
    <p:extLst>
      <p:ext uri="{BB962C8B-B14F-4D97-AF65-F5344CB8AC3E}">
        <p14:creationId xmlns:p14="http://schemas.microsoft.com/office/powerpoint/2010/main" val="1554766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27D8F-1E65-9148-8860-AA19AC905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E5766-5635-3715-54B1-CC0830014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9085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Some grants make final decision based on interview.</a:t>
            </a:r>
          </a:p>
          <a:p>
            <a:pPr marL="0" indent="0">
              <a:buNone/>
            </a:pPr>
            <a:r>
              <a:rPr lang="en-US" dirty="0"/>
              <a:t>Most interviews start with a short presentation – ranged from 3-10 mins.</a:t>
            </a:r>
          </a:p>
          <a:p>
            <a:pPr marL="0" indent="0">
              <a:buNone/>
            </a:pPr>
            <a:r>
              <a:rPr lang="en-US" dirty="0"/>
              <a:t>Some funders give you a list of questions before you are interviewed (UKRI)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6D0ECF-1445-C4EF-9983-CA01CDF12F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42" t="18761" r="23707"/>
          <a:stretch>
            <a:fillRect/>
          </a:stretch>
        </p:blipFill>
        <p:spPr>
          <a:xfrm>
            <a:off x="7453745" y="1440872"/>
            <a:ext cx="4045527" cy="420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68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935D-6890-BBE9-EA42-B8E8A64A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296680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1734</TotalTime>
  <Words>763</Words>
  <Application>Microsoft Macintosh PowerPoint</Application>
  <PresentationFormat>Widescreen</PresentationFormat>
  <Paragraphs>82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Roboto</vt:lpstr>
      <vt:lpstr>Office Theme</vt:lpstr>
      <vt:lpstr>Writing your first grant application</vt:lpstr>
      <vt:lpstr>A little bit about me</vt:lpstr>
      <vt:lpstr>Sorry in advance that it’s a bit UK specific…. There might be other funders e.g. in USA that you might be eligible for that I don’t know</vt:lpstr>
      <vt:lpstr>Why apply for funding?</vt:lpstr>
      <vt:lpstr>UK funding landscape</vt:lpstr>
      <vt:lpstr>Selecting the call</vt:lpstr>
      <vt:lpstr>Grants</vt:lpstr>
      <vt:lpstr>Application</vt:lpstr>
      <vt:lpstr>Your science</vt:lpstr>
      <vt:lpstr>CV</vt:lpstr>
      <vt:lpstr>Letters of support</vt:lpstr>
      <vt:lpstr>Mentors / Advisory Board</vt:lpstr>
      <vt:lpstr>Data management plan / Research Ethics</vt:lpstr>
      <vt:lpstr>Finance</vt:lpstr>
      <vt:lpstr>Worktribe</vt:lpstr>
      <vt:lpstr>Submission</vt:lpstr>
      <vt:lpstr>Review process</vt:lpstr>
      <vt:lpstr>Reviews</vt:lpstr>
      <vt:lpstr>Interviews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Juliette Unwin</dc:creator>
  <cp:lastModifiedBy>Juliette Unwin</cp:lastModifiedBy>
  <cp:revision>8</cp:revision>
  <dcterms:created xsi:type="dcterms:W3CDTF">2025-05-06T09:27:52Z</dcterms:created>
  <dcterms:modified xsi:type="dcterms:W3CDTF">2026-06-08T08:37:28Z</dcterms:modified>
</cp:coreProperties>
</file>