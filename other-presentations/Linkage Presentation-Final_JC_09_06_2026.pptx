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86" r:id="rId3"/>
    <p:sldId id="257" r:id="rId4"/>
    <p:sldId id="258" r:id="rId5"/>
    <p:sldId id="260" r:id="rId6"/>
    <p:sldId id="259" r:id="rId7"/>
    <p:sldId id="262" r:id="rId8"/>
    <p:sldId id="263" r:id="rId9"/>
    <p:sldId id="279" r:id="rId10"/>
    <p:sldId id="264" r:id="rId11"/>
    <p:sldId id="266" r:id="rId12"/>
    <p:sldId id="265" r:id="rId13"/>
    <p:sldId id="267" r:id="rId14"/>
    <p:sldId id="268" r:id="rId15"/>
    <p:sldId id="269" r:id="rId16"/>
    <p:sldId id="283" r:id="rId17"/>
    <p:sldId id="270" r:id="rId18"/>
    <p:sldId id="280" r:id="rId19"/>
    <p:sldId id="281" r:id="rId20"/>
    <p:sldId id="282" r:id="rId21"/>
    <p:sldId id="284" r:id="rId22"/>
    <p:sldId id="271" r:id="rId23"/>
    <p:sldId id="272" r:id="rId24"/>
    <p:sldId id="273" r:id="rId25"/>
    <p:sldId id="274" r:id="rId26"/>
    <p:sldId id="275" r:id="rId27"/>
    <p:sldId id="278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1523508-D2B9-41DD-22FC-3FCCD6CDF3B5}" name="Josiline Chemutai" initials="JC" userId="S::fu24662@bristol.ac.uk::64034eaf-cd06-40f6-a3f3-149101242add" providerId="AD"/>
  <p188:author id="{4688FC13-D606-0F00-39BE-F9478A02A9CD}" name="Cecina Babich Morrow" initials="CM" userId="S::aw23877@bristol.ac.uk::508569af-4cee-4b0b-ba59-dc1dd5017ad1" providerId="AD"/>
  <p188:author id="{E21AE563-E2BD-409E-56CE-332D28059B14}" name="Josiline Chemutai" initials="JC" userId="33638db3e1b5974b" providerId="Windows Live"/>
  <p188:author id="{FDF74B8C-E9FC-4757-E5F2-501174A3B56E}" name="Christopher Baleke" initials="CB" userId="S::sj24680@bristol.ac.uk::8c59d090-0e5f-45a4-b4fa-dce3e98516b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561"/>
  </p:normalViewPr>
  <p:slideViewPr>
    <p:cSldViewPr snapToGrid="0">
      <p:cViewPr varScale="1">
        <p:scale>
          <a:sx n="113" d="100"/>
          <a:sy n="113" d="100"/>
        </p:scale>
        <p:origin x="6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1971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B1F7E-D6F0-5049-FAA8-844A36F6A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BD10C7-3312-DF59-558B-0D1B9F3DF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D8437A-419C-DD05-8FE6-728D250B1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44D1F-C872-E3F3-B7B4-9D1CE20ACF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08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906D7-E4FD-F345-DE20-A380E5B2C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16118C-1631-95F3-6D30-7EFA4354C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01095-FF96-9709-40CC-6FA14EE787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57EF7-DD43-B5F4-183E-51E7426F21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1005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7F036-2541-E436-4D28-86F717773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F8E742-3F65-F398-D629-E6906F4CB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763888-AEE3-B523-0687-4DFFD88D6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26B78-3F7A-2ED7-1E16-0A10A3FF64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3798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7E772-F657-C7B4-D754-21D8A96EB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2C45C3-14DF-07B2-93D9-B864B6E35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26E85-D8A9-7421-80D6-123BAB430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406C3-B4F6-E18B-2CAE-29CC935FF6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3082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452E6-356D-24D6-F342-927C766CE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03778A-6816-71A2-24EC-CE5D237BC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010CAD-521A-9BF8-2AFD-810A8361E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4CE32-8FD5-2C4D-43FA-A5EE970AEA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804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30999-9EE9-79C7-EF66-842C3C5FD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E88968-5683-F7BD-46E7-7178CE526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2A6328-5383-E577-6C0F-597C86C4B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79DD5-9978-CF34-4D13-F4119FFE4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114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3FF06-C9D0-1A41-11B9-3DE724068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29075-3269-B351-7CC9-38B2B3538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20200E-C01E-2214-B270-66B31A896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4ECB0-F4B8-AB70-7AF6-EDA3F6156B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415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10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LINKAGE &amp; BASELINE PROFILE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1021645" y="1309576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4400" b="1" dirty="0">
                <a:solidFill>
                  <a:schemeClr val="bg2"/>
                </a:solidFill>
              </a:rPr>
              <a:t>Feasibility of Linking Maternal Health Data Without Unique Identifiers in Uganda: A case study of ~22K ANC appointments.</a:t>
            </a:r>
            <a:endParaRPr lang="en-US" sz="4400" dirty="0">
              <a:solidFill>
                <a:schemeClr val="bg2"/>
              </a:solidFill>
              <a:latin typeface="Georgia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606762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Mayuge HC IV  ·  Buluba Hospital  ·  2023–2024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320566" y="658157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MIHRI Data Programme</a:t>
            </a:r>
            <a:endParaRPr lang="en-US" sz="11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4604CD-6D64-082F-B1F9-66CB887F8E38}"/>
              </a:ext>
            </a:extLst>
          </p:cNvPr>
          <p:cNvSpPr txBox="1"/>
          <p:nvPr/>
        </p:nvSpPr>
        <p:spPr>
          <a:xfrm>
            <a:off x="3415456" y="3719624"/>
            <a:ext cx="4410486" cy="206210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600" dirty="0">
                <a:solidFill>
                  <a:schemeClr val="bg2"/>
                </a:solidFill>
                <a:ea typeface="Calibri"/>
                <a:cs typeface="Calibri"/>
              </a:rPr>
              <a:t>Josiline Chemutai</a:t>
            </a:r>
          </a:p>
          <a:p>
            <a:pPr algn="ctr"/>
            <a:r>
              <a:rPr lang="en-GB" sz="1600" dirty="0">
                <a:solidFill>
                  <a:schemeClr val="bg2"/>
                </a:solidFill>
                <a:ea typeface="Calibri"/>
                <a:cs typeface="Calibri"/>
              </a:rPr>
              <a:t>Cecina Babich Morrow</a:t>
            </a:r>
          </a:p>
          <a:p>
            <a:pPr algn="ctr"/>
            <a:r>
              <a:rPr lang="en-GB" sz="1600" dirty="0">
                <a:solidFill>
                  <a:schemeClr val="bg2"/>
                </a:solidFill>
                <a:ea typeface="Calibri"/>
                <a:cs typeface="Calibri"/>
              </a:rPr>
              <a:t>Adellah Ainembabazi</a:t>
            </a:r>
          </a:p>
          <a:p>
            <a:pPr algn="ctr"/>
            <a:r>
              <a:rPr lang="en-GB" sz="1600" dirty="0">
                <a:solidFill>
                  <a:schemeClr val="bg2"/>
                </a:solidFill>
                <a:ea typeface="Calibri"/>
                <a:cs typeface="Calibri"/>
              </a:rPr>
              <a:t>Alice Nassanga</a:t>
            </a:r>
          </a:p>
          <a:p>
            <a:pPr algn="ctr"/>
            <a:r>
              <a:rPr lang="en-GB" sz="1600" dirty="0">
                <a:solidFill>
                  <a:schemeClr val="bg2"/>
                </a:solidFill>
                <a:ea typeface="Calibri"/>
                <a:cs typeface="Calibri"/>
              </a:rPr>
              <a:t>Isaac </a:t>
            </a:r>
            <a:r>
              <a:rPr lang="en-GB" sz="1600" dirty="0" err="1">
                <a:solidFill>
                  <a:schemeClr val="bg2"/>
                </a:solidFill>
                <a:ea typeface="Calibri"/>
                <a:cs typeface="Calibri"/>
              </a:rPr>
              <a:t>Kasango</a:t>
            </a:r>
            <a:endParaRPr lang="en-GB" sz="1600" dirty="0">
              <a:solidFill>
                <a:schemeClr val="bg2"/>
              </a:solidFill>
              <a:ea typeface="Calibri"/>
              <a:cs typeface="Calibri"/>
            </a:endParaRPr>
          </a:p>
          <a:p>
            <a:pPr algn="ctr"/>
            <a:r>
              <a:rPr lang="en-GB" sz="1600" dirty="0">
                <a:solidFill>
                  <a:schemeClr val="bg2"/>
                </a:solidFill>
                <a:ea typeface="Calibri"/>
                <a:cs typeface="Calibri"/>
              </a:rPr>
              <a:t>Naveen Bhargav</a:t>
            </a:r>
          </a:p>
          <a:p>
            <a:pPr algn="ctr"/>
            <a:r>
              <a:rPr lang="en-GB" sz="1600" dirty="0">
                <a:solidFill>
                  <a:schemeClr val="bg2"/>
                </a:solidFill>
                <a:ea typeface="Calibri"/>
                <a:cs typeface="Calibri"/>
              </a:rPr>
              <a:t>Aaron </a:t>
            </a:r>
          </a:p>
          <a:p>
            <a:pPr algn="ctr"/>
            <a:r>
              <a:rPr lang="en-GB" sz="1600" dirty="0">
                <a:solidFill>
                  <a:schemeClr val="bg2"/>
                </a:solidFill>
                <a:ea typeface="Calibri"/>
                <a:cs typeface="Calibri"/>
              </a:rPr>
              <a:t>Christopher </a:t>
            </a:r>
            <a:r>
              <a:rPr lang="en-GB" sz="1600" dirty="0" err="1">
                <a:solidFill>
                  <a:schemeClr val="bg2"/>
                </a:solidFill>
                <a:ea typeface="Calibri"/>
                <a:cs typeface="Calibri"/>
              </a:rPr>
              <a:t>Baleke</a:t>
            </a:r>
            <a:endParaRPr lang="en-GB" sz="1600" dirty="0">
              <a:solidFill>
                <a:schemeClr val="bg2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BFD6F-6F44-8F23-F9FD-FE5C74851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C308FD6-7B27-0206-1D4F-B3577C9B6B27}"/>
              </a:ext>
            </a:extLst>
          </p:cNvPr>
          <p:cNvSpPr/>
          <p:nvPr/>
        </p:nvSpPr>
        <p:spPr>
          <a:xfrm>
            <a:off x="548640" y="41148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IN THE DATA</a:t>
            </a:r>
            <a:endParaRPr lang="en-US"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EA35A7-82F1-64AD-9318-81FC03FB055F}"/>
              </a:ext>
            </a:extLst>
          </p:cNvPr>
          <p:cNvSpPr/>
          <p:nvPr/>
        </p:nvSpPr>
        <p:spPr>
          <a:xfrm>
            <a:off x="548640" y="7315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20C1FD1-9CC3-C15C-1DB4-95334F2982C8}"/>
              </a:ext>
            </a:extLst>
          </p:cNvPr>
          <p:cNvSpPr/>
          <p:nvPr/>
        </p:nvSpPr>
        <p:spPr>
          <a:xfrm>
            <a:off x="413174" y="1387970"/>
            <a:ext cx="10728960" cy="77724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r>
              <a:rPr lang="en-GB" dirty="0"/>
              <a:t>Maternal health data (ANC, delivery, postnatal) are </a:t>
            </a:r>
            <a:r>
              <a:rPr lang="en-GB" b="1" dirty="0"/>
              <a:t>collected in separate systems</a:t>
            </a:r>
            <a:r>
              <a:rPr lang="en-GB" dirty="0"/>
              <a:t>, leading to fragmented and inconsistent records</a:t>
            </a:r>
            <a:endParaRPr lang="en-US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C21D83D4-CDBE-1F4B-42CC-465C21E39D5E}"/>
              </a:ext>
            </a:extLst>
          </p:cNvPr>
          <p:cNvSpPr/>
          <p:nvPr/>
        </p:nvSpPr>
        <p:spPr>
          <a:xfrm>
            <a:off x="397370" y="2383084"/>
            <a:ext cx="10708640" cy="45720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r>
              <a:rPr lang="en-GB" dirty="0"/>
              <a:t>Lack of </a:t>
            </a:r>
            <a:r>
              <a:rPr lang="en-GB" b="1" dirty="0"/>
              <a:t>unique identifiers</a:t>
            </a:r>
            <a:r>
              <a:rPr lang="en-GB" dirty="0"/>
              <a:t> limits tracking of women across the care continuum</a:t>
            </a:r>
            <a:endParaRPr lang="en-US" dirty="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5D52F665-762F-F3F0-D808-31754D1F9B78}"/>
              </a:ext>
            </a:extLst>
          </p:cNvPr>
          <p:cNvSpPr/>
          <p:nvPr/>
        </p:nvSpPr>
        <p:spPr>
          <a:xfrm>
            <a:off x="978747" y="375129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600" dirty="0">
              <a:latin typeface="Consolas"/>
            </a:endParaRPr>
          </a:p>
        </p:txBody>
      </p:sp>
      <p:sp>
        <p:nvSpPr>
          <p:cNvPr id="34" name="Shape 26">
            <a:extLst>
              <a:ext uri="{FF2B5EF4-FFF2-40B4-BE49-F238E27FC236}">
                <a16:creationId xmlns:a16="http://schemas.microsoft.com/office/drawing/2014/main" id="{53AF3735-3B3E-C3D8-8C03-FF402CBE7775}"/>
              </a:ext>
            </a:extLst>
          </p:cNvPr>
          <p:cNvSpPr/>
          <p:nvPr/>
        </p:nvSpPr>
        <p:spPr>
          <a:xfrm>
            <a:off x="397370" y="3106702"/>
            <a:ext cx="10728960" cy="644596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r>
              <a:rPr lang="en-GB" b="1" dirty="0"/>
              <a:t>Probabilistic record linkage</a:t>
            </a:r>
            <a:r>
              <a:rPr lang="en-GB" dirty="0"/>
              <a:t> can connect records using variables (e.g., name, age, residence, dates) but has not been well  explored in Ugandan settings</a:t>
            </a:r>
            <a:endParaRPr lang="en-US" dirty="0"/>
          </a:p>
        </p:txBody>
      </p:sp>
      <p:sp>
        <p:nvSpPr>
          <p:cNvPr id="44" name="Shape 26">
            <a:extLst>
              <a:ext uri="{FF2B5EF4-FFF2-40B4-BE49-F238E27FC236}">
                <a16:creationId xmlns:a16="http://schemas.microsoft.com/office/drawing/2014/main" id="{2A3B63DC-1F3C-4B3C-1B1E-0A9363A83313}"/>
              </a:ext>
            </a:extLst>
          </p:cNvPr>
          <p:cNvSpPr/>
          <p:nvPr/>
        </p:nvSpPr>
        <p:spPr>
          <a:xfrm>
            <a:off x="397370" y="3979898"/>
            <a:ext cx="10728960" cy="1845169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r>
              <a:rPr lang="en-GB" b="1" dirty="0"/>
              <a:t>Why this matters:</a:t>
            </a:r>
            <a:endParaRPr lang="en-GB" dirty="0"/>
          </a:p>
          <a:p>
            <a:pPr marL="628650" indent="-179388">
              <a:buFont typeface="Arial" panose="020B0604020202020204" pitchFamily="34" charset="0"/>
              <a:buChar char="•"/>
            </a:pPr>
            <a:r>
              <a:rPr lang="en-GB" dirty="0"/>
              <a:t>Enables assessment of </a:t>
            </a:r>
            <a:r>
              <a:rPr lang="en-GB" b="1" dirty="0"/>
              <a:t>continuity of care (ANC → delivery)</a:t>
            </a:r>
            <a:r>
              <a:rPr lang="en-GB" dirty="0"/>
              <a:t> and identification of service gaps</a:t>
            </a:r>
          </a:p>
          <a:p>
            <a:pPr marL="628650" indent="-179388">
              <a:buFont typeface="Arial" panose="020B0604020202020204" pitchFamily="34" charset="0"/>
              <a:buChar char="•"/>
            </a:pPr>
            <a:r>
              <a:rPr lang="en-GB" dirty="0"/>
              <a:t>Provides a </a:t>
            </a:r>
            <a:r>
              <a:rPr lang="en-GB" b="1" dirty="0"/>
              <a:t>low-cost, scalable alternative</a:t>
            </a:r>
            <a:r>
              <a:rPr lang="en-GB" dirty="0"/>
              <a:t> in resource-limited settings</a:t>
            </a:r>
          </a:p>
          <a:p>
            <a:pPr marL="628650" indent="-179388">
              <a:buFont typeface="Arial" panose="020B0604020202020204" pitchFamily="34" charset="0"/>
              <a:buChar char="•"/>
            </a:pPr>
            <a:r>
              <a:rPr lang="en-GB" dirty="0"/>
              <a:t>Allows creation of </a:t>
            </a:r>
            <a:r>
              <a:rPr lang="en-GB" b="1" dirty="0"/>
              <a:t>retrospective and prospective cohorts</a:t>
            </a:r>
            <a:r>
              <a:rPr lang="en-GB" dirty="0"/>
              <a:t> from routine data</a:t>
            </a:r>
          </a:p>
          <a:p>
            <a:pPr marL="628650" indent="-179388">
              <a:buFont typeface="Arial" panose="020B0604020202020204" pitchFamily="34" charset="0"/>
              <a:buChar char="•"/>
            </a:pPr>
            <a:r>
              <a:rPr lang="en-GB" dirty="0"/>
              <a:t>Supports </a:t>
            </a:r>
            <a:r>
              <a:rPr lang="en-GB" b="1" dirty="0"/>
              <a:t>longitudinal maternal health research</a:t>
            </a:r>
            <a:r>
              <a:rPr lang="en-GB" dirty="0"/>
              <a:t> without costly primary data collection</a:t>
            </a:r>
          </a:p>
          <a:p>
            <a:pPr marL="628650" indent="-179388">
              <a:buFont typeface="Arial" panose="020B0604020202020204" pitchFamily="34" charset="0"/>
              <a:buChar char="•"/>
            </a:pPr>
            <a:r>
              <a:rPr lang="en-GB" dirty="0"/>
              <a:t>Informs </a:t>
            </a:r>
            <a:r>
              <a:rPr lang="en-GB" b="1" dirty="0"/>
              <a:t>health system improvement, data integration (EHRs/TREs), and national policy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9355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DATA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5C"/>
                </a:solidFill>
                <a:latin typeface="Georgia"/>
                <a:ea typeface="Georgia" pitchFamily="34" charset="-122"/>
                <a:cs typeface="Georgia" pitchFamily="34" charset="-120"/>
              </a:rPr>
              <a:t>The dataset</a:t>
            </a:r>
            <a:endParaRPr lang="en-US" sz="2800" dirty="0">
              <a:latin typeface="Georgi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155448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tx2"/>
                </a:solidFill>
                <a:latin typeface="Georgia"/>
                <a:ea typeface="Georgia" pitchFamily="34" charset="-122"/>
                <a:cs typeface="Georgia" pitchFamily="34" charset="-120"/>
              </a:rPr>
              <a:t>~22k</a:t>
            </a:r>
            <a:endParaRPr lang="en-US" sz="4800" dirty="0">
              <a:solidFill>
                <a:schemeClr val="tx2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ANC visit records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651760" cy="155448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0" y="19202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>
                <a:solidFill>
                  <a:schemeClr val="tx2"/>
                </a:solidFill>
                <a:latin typeface="Georgia"/>
                <a:ea typeface="Georgia" pitchFamily="34" charset="-122"/>
                <a:cs typeface="Georgia" pitchFamily="34" charset="-120"/>
              </a:rPr>
              <a:t>2</a:t>
            </a:r>
            <a:endParaRPr lang="en-US" sz="4800">
              <a:solidFill>
                <a:schemeClr val="tx2"/>
              </a:solidFill>
              <a:latin typeface="Georgia"/>
            </a:endParaRPr>
          </a:p>
        </p:txBody>
      </p:sp>
      <p:sp>
        <p:nvSpPr>
          <p:cNvPr id="9" name="Text 7"/>
          <p:cNvSpPr/>
          <p:nvPr/>
        </p:nvSpPr>
        <p:spPr>
          <a:xfrm>
            <a:off x="3383280" y="2788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facilities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651760" cy="155448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19202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  <a:latin typeface="Georgia"/>
                <a:ea typeface="Georgia" pitchFamily="34" charset="-122"/>
                <a:cs typeface="Georgia" pitchFamily="34" charset="-120"/>
              </a:rPr>
              <a:t>2023–24</a:t>
            </a:r>
            <a:endParaRPr lang="en-US" sz="4400" dirty="0">
              <a:solidFill>
                <a:schemeClr val="tx2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17920" y="2788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kern="0" spc="300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calendar years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2651760" cy="155448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52560" y="19202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tx2"/>
                </a:solidFill>
                <a:latin typeface="Georgia"/>
                <a:ea typeface="Georgia" pitchFamily="34" charset="-122"/>
                <a:cs typeface="Georgia" pitchFamily="34" charset="-120"/>
              </a:rPr>
              <a:t>100+</a:t>
            </a:r>
            <a:endParaRPr lang="en-US" sz="4800" dirty="0">
              <a:solidFill>
                <a:schemeClr val="tx2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052560" y="2788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variables per record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FACILITIES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91440" cy="1280160"/>
          </a:xfrm>
          <a:prstGeom prst="rect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err="1">
                <a:solidFill>
                  <a:srgbClr val="0F3B5C"/>
                </a:solidFill>
                <a:latin typeface="Calibri"/>
                <a:ea typeface="Calibri"/>
                <a:cs typeface="Calibri"/>
              </a:rPr>
              <a:t>Mayuge</a:t>
            </a:r>
            <a:r>
              <a:rPr lang="en-US" sz="2400" b="1">
                <a:solidFill>
                  <a:srgbClr val="0F3B5C"/>
                </a:solidFill>
                <a:latin typeface="Calibri"/>
                <a:ea typeface="Calibri"/>
                <a:cs typeface="Calibri"/>
              </a:rPr>
              <a:t> HC IV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4617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Health Centre IV: primary referral, high-volume ANC clinic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309360" y="402336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09360" y="4023360"/>
            <a:ext cx="91440" cy="1280160"/>
          </a:xfrm>
          <a:prstGeom prst="rect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err="1">
                <a:solidFill>
                  <a:srgbClr val="0F3B5C"/>
                </a:solidFill>
                <a:latin typeface="Calibri"/>
                <a:ea typeface="Calibri"/>
                <a:cs typeface="Calibri"/>
              </a:rPr>
              <a:t>Buluba</a:t>
            </a:r>
            <a:r>
              <a:rPr lang="en-US" sz="2400" b="1">
                <a:solidFill>
                  <a:srgbClr val="0F3B5C"/>
                </a:solidFill>
                <a:latin typeface="Calibri"/>
                <a:ea typeface="Calibri"/>
                <a:cs typeface="Calibri"/>
              </a:rPr>
              <a:t> Hospital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83680" y="4617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Faith-based hospital: broader services, longer paper records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00126" y="5573309"/>
            <a:ext cx="11012754" cy="875682"/>
          </a:xfrm>
          <a:prstGeom prst="rect">
            <a:avLst/>
          </a:prstGeom>
          <a:solidFill>
            <a:srgbClr val="0F3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7537" y="567051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>
                <a:solidFill>
                  <a:srgbClr val="F18F01"/>
                </a:solidFill>
                <a:latin typeface="Calibri"/>
                <a:ea typeface="Calibri"/>
                <a:cs typeface="Calibri"/>
              </a:rPr>
              <a:t>The challenge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97835" y="593453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Each row is one visit, but we lack unique patient identifiers. Before any analysis, we need to know who is who.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IN THE DATA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every visit record contains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100584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1396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</a:t>
            </a:r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463040" y="2286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5B6B7A"/>
                </a:solidFill>
                <a:latin typeface="Consolas"/>
                <a:ea typeface="Consolas" pitchFamily="34" charset="-122"/>
                <a:cs typeface="Consolas" pitchFamily="34" charset="-120"/>
              </a:rPr>
              <a:t>client number, first/last name, contact, facility, visit date</a:t>
            </a:r>
            <a:endParaRPr lang="en-US" sz="1600" err="1">
              <a:latin typeface="Consola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486400" cy="100584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92240" y="2011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213969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920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223760" y="2286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5B6B7A"/>
                </a:solidFill>
                <a:latin typeface="Consolas"/>
                <a:ea typeface="Consolas" pitchFamily="34" charset="-122"/>
                <a:cs typeface="Consolas" pitchFamily="34" charset="-120"/>
              </a:rPr>
              <a:t>age, district, subcounty, parish, village, category (new/return)</a:t>
            </a:r>
            <a:endParaRPr lang="en-US" sz="1600">
              <a:latin typeface="Consola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8640" y="2926080"/>
            <a:ext cx="5486400" cy="100584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31520" y="3154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328269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063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Obstetric history</a:t>
            </a:r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1463040" y="3429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5B6B7A"/>
                </a:solidFill>
                <a:latin typeface="Consolas"/>
                <a:ea typeface="Consolas" pitchFamily="34" charset="-122"/>
                <a:cs typeface="Consolas" pitchFamily="34" charset="-120"/>
              </a:rPr>
              <a:t>gravida, parity, gestational age, ANC1 timing, ANC visit number</a:t>
            </a:r>
            <a:endParaRPr lang="en-US" sz="1600">
              <a:latin typeface="Consola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309360" y="2926080"/>
            <a:ext cx="5486400" cy="100584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92240" y="3154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328269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063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Anthropometry &amp; vitals</a:t>
            </a:r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7223760" y="3429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5B6B7A"/>
                </a:solidFill>
                <a:latin typeface="Consolas"/>
                <a:ea typeface="Consolas" pitchFamily="34" charset="-122"/>
                <a:cs typeface="Consolas" pitchFamily="34" charset="-120"/>
              </a:rPr>
              <a:t>weight, height, MUAC, blood pressure (systolic &amp; diastolic)</a:t>
            </a:r>
            <a:endParaRPr lang="en-US" sz="1600">
              <a:solidFill>
                <a:srgbClr val="5B6B7A"/>
              </a:solidFill>
              <a:latin typeface="Consolas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548640" y="4069080"/>
            <a:ext cx="5486400" cy="100584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731520" y="4297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442569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4206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</a:t>
            </a:r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1463040" y="4572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5B6B7A"/>
                </a:solidFill>
                <a:latin typeface="Consolas"/>
                <a:ea typeface="Consolas" pitchFamily="34" charset="-122"/>
                <a:cs typeface="Consolas" pitchFamily="34" charset="-120"/>
              </a:rPr>
              <a:t>hemoglobin levels, blood group, syphilis, hepatitis, urine</a:t>
            </a:r>
            <a:endParaRPr lang="en-US" sz="1600">
              <a:latin typeface="Consolas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6309360" y="4069080"/>
            <a:ext cx="5486400" cy="100584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30" name="Shape 23"/>
          <p:cNvSpPr/>
          <p:nvPr/>
        </p:nvSpPr>
        <p:spPr>
          <a:xfrm>
            <a:off x="6492240" y="4297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0256" y="4425696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23760" y="4206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 / PMTCT</a:t>
            </a:r>
            <a:endParaRPr lang="en-US"/>
          </a:p>
        </p:txBody>
      </p:sp>
      <p:sp>
        <p:nvSpPr>
          <p:cNvPr id="33" name="Text 25"/>
          <p:cNvSpPr/>
          <p:nvPr/>
        </p:nvSpPr>
        <p:spPr>
          <a:xfrm>
            <a:off x="7223760" y="4572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5B6B7A"/>
                </a:solidFill>
                <a:latin typeface="Consolas"/>
                <a:ea typeface="Consolas" pitchFamily="34" charset="-122"/>
                <a:cs typeface="Consolas" pitchFamily="34" charset="-120"/>
              </a:rPr>
              <a:t>EMTCT codes, ART, CD4, infant feeding counselling</a:t>
            </a:r>
            <a:endParaRPr lang="en-US" sz="1600">
              <a:latin typeface="Consolas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548640" y="5212080"/>
            <a:ext cx="5486400" cy="100584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731520" y="5440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536" y="5568696"/>
            <a:ext cx="292608" cy="29260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463040" y="5349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actions</a:t>
            </a:r>
            <a:endParaRPr lang="en-US"/>
          </a:p>
        </p:txBody>
      </p:sp>
      <p:sp>
        <p:nvSpPr>
          <p:cNvPr id="38" name="Text 29"/>
          <p:cNvSpPr/>
          <p:nvPr/>
        </p:nvSpPr>
        <p:spPr>
          <a:xfrm>
            <a:off x="1463040" y="5715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5B6B7A"/>
                </a:solidFill>
                <a:latin typeface="Consolas"/>
                <a:ea typeface="Consolas" pitchFamily="34" charset="-122"/>
                <a:cs typeface="Consolas" pitchFamily="34" charset="-120"/>
              </a:rPr>
              <a:t>tetanus, IPT dose, </a:t>
            </a:r>
            <a:r>
              <a:rPr lang="en-US" sz="1600" err="1">
                <a:solidFill>
                  <a:srgbClr val="5B6B7A"/>
                </a:solidFill>
                <a:latin typeface="Consolas"/>
                <a:ea typeface="Consolas" pitchFamily="34" charset="-122"/>
                <a:cs typeface="Consolas" pitchFamily="34" charset="-120"/>
              </a:rPr>
              <a:t>freellin</a:t>
            </a:r>
            <a:r>
              <a:rPr lang="en-US" sz="1600">
                <a:solidFill>
                  <a:srgbClr val="5B6B7A"/>
                </a:solidFill>
                <a:latin typeface="Consolas"/>
                <a:ea typeface="Consolas" pitchFamily="34" charset="-122"/>
                <a:cs typeface="Consolas" pitchFamily="34" charset="-120"/>
              </a:rPr>
              <a:t> (ITN), mebendazole, </a:t>
            </a:r>
            <a:r>
              <a:rPr lang="en-US" sz="1600" err="1">
                <a:solidFill>
                  <a:srgbClr val="5B6B7A"/>
                </a:solidFill>
                <a:latin typeface="Consolas"/>
                <a:ea typeface="Consolas" pitchFamily="34" charset="-122"/>
                <a:cs typeface="Consolas" pitchFamily="34" charset="-120"/>
              </a:rPr>
              <a:t>ironacid</a:t>
            </a:r>
            <a:endParaRPr lang="en-US" sz="1600" err="1">
              <a:latin typeface="Consolas"/>
            </a:endParaRPr>
          </a:p>
        </p:txBody>
      </p:sp>
      <p:sp>
        <p:nvSpPr>
          <p:cNvPr id="39" name="Shape 30"/>
          <p:cNvSpPr/>
          <p:nvPr/>
        </p:nvSpPr>
        <p:spPr>
          <a:xfrm>
            <a:off x="6309360" y="5212080"/>
            <a:ext cx="5486400" cy="100584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1"/>
          <p:cNvSpPr/>
          <p:nvPr/>
        </p:nvSpPr>
        <p:spPr>
          <a:xfrm>
            <a:off x="6492240" y="5440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0256" y="5568696"/>
            <a:ext cx="292608" cy="29260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223760" y="5349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&amp; outcomes</a:t>
            </a:r>
            <a:endParaRPr lang="en-US"/>
          </a:p>
        </p:txBody>
      </p:sp>
      <p:sp>
        <p:nvSpPr>
          <p:cNvPr id="43" name="Text 33"/>
          <p:cNvSpPr/>
          <p:nvPr/>
        </p:nvSpPr>
        <p:spPr>
          <a:xfrm>
            <a:off x="7223760" y="5715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5B6B7A"/>
                </a:solidFill>
                <a:latin typeface="Consolas"/>
                <a:ea typeface="Consolas" pitchFamily="34" charset="-122"/>
                <a:cs typeface="Consolas" pitchFamily="34" charset="-120"/>
              </a:rPr>
              <a:t>diagnoses, complications, referrals</a:t>
            </a:r>
            <a:endParaRPr lang="en-US" sz="1600">
              <a:latin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DEFINITIONS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engineered variables built for linkage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We derived two new variables from the raw fields to help with potential linkage issues: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0" cy="384048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09728" cy="3840480"/>
          </a:xfrm>
          <a:prstGeom prst="rect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1C7293"/>
                </a:solidFill>
                <a:latin typeface="Consolas"/>
                <a:ea typeface="Consolas" pitchFamily="34" charset="-122"/>
                <a:cs typeface="Consolas" pitchFamily="34" charset="-120"/>
              </a:rPr>
              <a:t>est_mother_birth_year</a:t>
            </a:r>
            <a:endParaRPr lang="en-US">
              <a:latin typeface="Consola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>
                <a:solidFill>
                  <a:srgbClr val="0F3B5C"/>
                </a:solidFill>
                <a:latin typeface="Calibri"/>
                <a:ea typeface="Calibri"/>
                <a:cs typeface="Calibri"/>
              </a:rPr>
              <a:t>Estimated </a:t>
            </a:r>
            <a:r>
              <a:rPr lang="en-US" b="1">
                <a:solidFill>
                  <a:srgbClr val="0F3B5C"/>
                </a:solidFill>
                <a:latin typeface="Calibri"/>
                <a:ea typeface="Calibri"/>
                <a:cs typeface="Calibri"/>
              </a:rPr>
              <a:t>birth year of the mother</a:t>
            </a:r>
            <a:endParaRPr lang="en-US" sz="1800" b="1">
              <a:solidFill>
                <a:srgbClr val="0F3B5C"/>
              </a:solidFill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68680" y="3566160"/>
            <a:ext cx="4846320" cy="502920"/>
          </a:xfrm>
          <a:prstGeom prst="rect">
            <a:avLst/>
          </a:prstGeom>
          <a:solidFill>
            <a:srgbClr val="0F3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35661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year(visit_date) − ageyrs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776004" y="470051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6004" y="4974830"/>
            <a:ext cx="5029200" cy="1152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The mother's age could increase between visits but the year she was born would not. Comparing records on mother's birth year means visits by the same mother a year apart should still align. Note: we may still have discrepancies due to birthdate timings.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09360" y="2286000"/>
            <a:ext cx="5486400" cy="384048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0" y="2286000"/>
            <a:ext cx="109728" cy="3840480"/>
          </a:xfrm>
          <a:prstGeom prst="rect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29400" y="2560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numeric_delivery_date</a:t>
            </a:r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29400" y="29260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delivery date (numeric)</a:t>
            </a:r>
            <a:endParaRPr lang="en-US" sz="1800"/>
          </a:p>
        </p:txBody>
      </p:sp>
      <p:sp>
        <p:nvSpPr>
          <p:cNvPr id="17" name="Shape 15"/>
          <p:cNvSpPr/>
          <p:nvPr/>
        </p:nvSpPr>
        <p:spPr>
          <a:xfrm>
            <a:off x="6639697" y="3432296"/>
            <a:ext cx="4887509" cy="1223729"/>
          </a:xfrm>
          <a:prstGeom prst="rect">
            <a:avLst/>
          </a:prstGeom>
          <a:solidFill>
            <a:srgbClr val="0F3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20840" y="3432295"/>
            <a:ext cx="4611954" cy="1223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err="1">
                <a:solidFill>
                  <a:srgbClr val="FFFFFF"/>
                </a:solidFill>
                <a:latin typeface="Consolas"/>
              </a:rPr>
              <a:t>make_date</a:t>
            </a:r>
            <a:r>
              <a:rPr lang="en-US" sz="1200">
                <a:solidFill>
                  <a:srgbClr val="FFFFFF"/>
                </a:solidFill>
                <a:latin typeface="Consolas"/>
              </a:rPr>
              <a:t>(year = </a:t>
            </a:r>
            <a:r>
              <a:rPr lang="en-US" sz="1200" err="1">
                <a:solidFill>
                  <a:srgbClr val="FFFFFF"/>
                </a:solidFill>
                <a:latin typeface="Consolas"/>
              </a:rPr>
              <a:t>expected_yrdlvry</a:t>
            </a:r>
            <a:r>
              <a:rPr lang="en-US" sz="1200">
                <a:solidFill>
                  <a:srgbClr val="FFFFFF"/>
                </a:solidFill>
                <a:latin typeface="Consolas"/>
              </a:rPr>
              <a:t>,</a:t>
            </a:r>
            <a:endParaRPr lang="en-US">
              <a:solidFill>
                <a:srgbClr val="000000"/>
              </a:solidFill>
              <a:latin typeface="Consolas"/>
            </a:endParaRPr>
          </a:p>
          <a:p>
            <a:r>
              <a:rPr lang="en-US" sz="1200">
                <a:solidFill>
                  <a:srgbClr val="FFFFFF"/>
                </a:solidFill>
                <a:latin typeface="Consolas"/>
              </a:rPr>
              <a:t>          month = </a:t>
            </a:r>
            <a:r>
              <a:rPr lang="en-US" sz="1200" err="1">
                <a:solidFill>
                  <a:srgbClr val="FFFFFF"/>
                </a:solidFill>
                <a:latin typeface="Consolas"/>
              </a:rPr>
              <a:t>expected_mmdlvry</a:t>
            </a:r>
            <a:r>
              <a:rPr lang="en-US" sz="1200">
                <a:solidFill>
                  <a:srgbClr val="FFFFFF"/>
                </a:solidFill>
                <a:latin typeface="Consolas"/>
              </a:rPr>
              <a:t>,</a:t>
            </a:r>
            <a:endParaRPr lang="en-US">
              <a:latin typeface="Consolas"/>
            </a:endParaRPr>
          </a:p>
          <a:p>
            <a:r>
              <a:rPr lang="en-US" sz="1200">
                <a:solidFill>
                  <a:srgbClr val="FFFFFF"/>
                </a:solidFill>
                <a:latin typeface="Consolas"/>
              </a:rPr>
              <a:t>          day = </a:t>
            </a:r>
            <a:r>
              <a:rPr lang="en-US" sz="1200" err="1">
                <a:solidFill>
                  <a:srgbClr val="FFFFFF"/>
                </a:solidFill>
                <a:latin typeface="Consolas"/>
              </a:rPr>
              <a:t>delvry_day</a:t>
            </a:r>
            <a:r>
              <a:rPr lang="en-US" sz="1200">
                <a:solidFill>
                  <a:srgbClr val="FFFFFF"/>
                </a:solidFill>
                <a:latin typeface="Consolas"/>
              </a:rPr>
              <a:t>)</a:t>
            </a:r>
          </a:p>
          <a:p>
            <a:r>
              <a:rPr lang="en-US" sz="1200" b="1">
                <a:solidFill>
                  <a:srgbClr val="FFFFFF"/>
                </a:solidFill>
                <a:latin typeface="Consolas"/>
              </a:rPr>
              <a:t>OR</a:t>
            </a:r>
          </a:p>
          <a:p>
            <a:r>
              <a:rPr lang="en-US" sz="1200" err="1">
                <a:solidFill>
                  <a:srgbClr val="FFFFFF"/>
                </a:solidFill>
                <a:latin typeface="Consolas"/>
              </a:rPr>
              <a:t>visit_date</a:t>
            </a:r>
            <a:r>
              <a:rPr lang="en-US" sz="1200">
                <a:solidFill>
                  <a:srgbClr val="FFFFFF"/>
                </a:solidFill>
                <a:latin typeface="Consolas"/>
              </a:rPr>
              <a:t> + weeks(40) - weeks(</a:t>
            </a:r>
            <a:r>
              <a:rPr lang="en-US" sz="1200" err="1">
                <a:solidFill>
                  <a:srgbClr val="FFFFFF"/>
                </a:solidFill>
                <a:latin typeface="Consolas"/>
              </a:rPr>
              <a:t>anc_gestationalage</a:t>
            </a:r>
            <a:r>
              <a:rPr lang="en-US" sz="1200">
                <a:solidFill>
                  <a:srgbClr val="FFFFFF"/>
                </a:solidFill>
                <a:latin typeface="Consolas"/>
              </a:rPr>
              <a:t>)</a:t>
            </a:r>
          </a:p>
        </p:txBody>
      </p:sp>
      <p:sp>
        <p:nvSpPr>
          <p:cNvPr id="19" name="Text 17"/>
          <p:cNvSpPr/>
          <p:nvPr/>
        </p:nvSpPr>
        <p:spPr>
          <a:xfrm>
            <a:off x="6639697" y="470051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29400" y="4882155"/>
            <a:ext cx="5029200" cy="1245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Built from expected delivery day + month + year when present, or from gestational age otherwise. Converted to a number so it can be compared with a tolerance.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 VARIABLES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variables we use to link records — and how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448056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640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822960" y="2130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identical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3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client_no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 register number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566160" cy="448056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566160" cy="640080"/>
          </a:xfrm>
          <a:prstGeom prst="rect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457200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DISTANCE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4572000" y="2130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tolerates spelling errors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4572000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3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first_name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4572000" y="28803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name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4572000" y="3154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3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last_name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4572000" y="3429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name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457200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3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client_contact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4572000" y="39776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number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4572000" y="4251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3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location_combined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4572000" y="4526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Parish + village</a:t>
            </a:r>
            <a:endParaRPr lang="en-US" sz="1600"/>
          </a:p>
        </p:txBody>
      </p:sp>
      <p:sp>
        <p:nvSpPr>
          <p:cNvPr id="22" name="Shape 20"/>
          <p:cNvSpPr/>
          <p:nvPr/>
        </p:nvSpPr>
        <p:spPr>
          <a:xfrm>
            <a:off x="8046720" y="1783080"/>
            <a:ext cx="3566160" cy="448056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8046720" y="1783080"/>
            <a:ext cx="3566160" cy="640080"/>
          </a:xfrm>
          <a:prstGeom prst="rect">
            <a:avLst/>
          </a:prstGeom>
          <a:solidFill>
            <a:srgbClr val="0F3B5C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832104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DISTANCE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8321040" y="2130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gap = same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8321040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0F3B5C"/>
                </a:solidFill>
                <a:latin typeface="Consolas"/>
                <a:ea typeface="Consolas" pitchFamily="34" charset="-122"/>
                <a:cs typeface="Consolas" pitchFamily="34" charset="-120"/>
              </a:rPr>
              <a:t>est_mother_birth_year</a:t>
            </a:r>
            <a:endParaRPr lang="en-US" sz="1600" err="1">
              <a:latin typeface="Consola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21040" y="28803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year − age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8321040" y="3154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3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anc_parity</a:t>
            </a:r>
            <a:endParaRPr lang="en-US" sz="1600"/>
          </a:p>
        </p:txBody>
      </p:sp>
      <p:sp>
        <p:nvSpPr>
          <p:cNvPr id="29" name="Text 27"/>
          <p:cNvSpPr/>
          <p:nvPr/>
        </p:nvSpPr>
        <p:spPr>
          <a:xfrm>
            <a:off x="8321040" y="3429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Previous live births</a:t>
            </a:r>
            <a:endParaRPr lang="en-US" sz="1600"/>
          </a:p>
        </p:txBody>
      </p:sp>
      <p:sp>
        <p:nvSpPr>
          <p:cNvPr id="30" name="Text 28"/>
          <p:cNvSpPr/>
          <p:nvPr/>
        </p:nvSpPr>
        <p:spPr>
          <a:xfrm>
            <a:off x="832104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3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anc_parity_2</a:t>
            </a:r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8310743" y="4018829"/>
            <a:ext cx="3017520" cy="36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Previous pregnancies ≥ 24 weeks stillbirth or miscarriage</a:t>
            </a:r>
          </a:p>
        </p:txBody>
      </p:sp>
      <p:sp>
        <p:nvSpPr>
          <p:cNvPr id="32" name="Text 30"/>
          <p:cNvSpPr/>
          <p:nvPr/>
        </p:nvSpPr>
        <p:spPr>
          <a:xfrm>
            <a:off x="8310743" y="4499095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3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anc_gravida</a:t>
            </a:r>
            <a:endParaRPr lang="en-US" sz="1600"/>
          </a:p>
        </p:txBody>
      </p:sp>
      <p:sp>
        <p:nvSpPr>
          <p:cNvPr id="33" name="Text 31"/>
          <p:cNvSpPr/>
          <p:nvPr/>
        </p:nvSpPr>
        <p:spPr>
          <a:xfrm>
            <a:off x="8310743" y="4773415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pregnancies</a:t>
            </a:r>
            <a:endParaRPr lang="en-US" sz="1600"/>
          </a:p>
        </p:txBody>
      </p:sp>
      <p:sp>
        <p:nvSpPr>
          <p:cNvPr id="34" name="Text 32"/>
          <p:cNvSpPr/>
          <p:nvPr/>
        </p:nvSpPr>
        <p:spPr>
          <a:xfrm>
            <a:off x="8310743" y="5047735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3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anc_height</a:t>
            </a:r>
            <a:endParaRPr lang="en-US" sz="1600"/>
          </a:p>
        </p:txBody>
      </p:sp>
      <p:sp>
        <p:nvSpPr>
          <p:cNvPr id="35" name="Text 33"/>
          <p:cNvSpPr/>
          <p:nvPr/>
        </p:nvSpPr>
        <p:spPr>
          <a:xfrm>
            <a:off x="8310743" y="5322055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(cm)</a:t>
            </a:r>
            <a:endParaRPr lang="en-US" sz="1600"/>
          </a:p>
        </p:txBody>
      </p:sp>
      <p:sp>
        <p:nvSpPr>
          <p:cNvPr id="36" name="Text 34"/>
          <p:cNvSpPr/>
          <p:nvPr/>
        </p:nvSpPr>
        <p:spPr>
          <a:xfrm>
            <a:off x="8310743" y="5596375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0F3B5C"/>
                </a:solidFill>
                <a:latin typeface="Consolas"/>
                <a:ea typeface="Consolas" pitchFamily="34" charset="-122"/>
                <a:cs typeface="Consolas" pitchFamily="34" charset="-120"/>
              </a:rPr>
              <a:t>delivery_date</a:t>
            </a:r>
            <a:endParaRPr lang="en-US" sz="1600" err="1">
              <a:latin typeface="Consola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310743" y="5870695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delivery</a:t>
            </a:r>
            <a:endParaRPr lang="en-US" sz="160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Each variable contributes one piece of evidence; the model combines them into a single probability of matching per pair.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linkage is done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For every pair of records, the model asks: how likely is it that these two visits belong to the same woman?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2651760" cy="338328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594360" cy="594360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fields</a:t>
            </a: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Each variable is compared by the rule we set: exact, string-similarity, or numeric-distance matching.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83280" y="2651760"/>
            <a:ext cx="2651760" cy="338328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66160" y="2880360"/>
            <a:ext cx="594360" cy="594360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66160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356616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pair</a:t>
            </a: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66160" y="41148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The </a:t>
            </a:r>
            <a:r>
              <a:rPr lang="en-US" sz="160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fastLink</a:t>
            </a: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 R package combines field-level evidence into a single probability of a match, weighting informative agreements more.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17920" y="2651760"/>
            <a:ext cx="2651760" cy="338328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0" y="2880360"/>
            <a:ext cx="594360" cy="594360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640080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into patients</a:t>
            </a:r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41148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Pairs above the probability threshold are linked. Connected records are grouped into patient IDs.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052560" y="2651760"/>
            <a:ext cx="2651760" cy="338328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235440" y="2880360"/>
            <a:ext cx="594360" cy="594360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235440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/>
          </a:p>
        </p:txBody>
      </p:sp>
      <p:sp>
        <p:nvSpPr>
          <p:cNvPr id="23" name="Text 21"/>
          <p:cNvSpPr/>
          <p:nvPr/>
        </p:nvSpPr>
        <p:spPr>
          <a:xfrm>
            <a:off x="923544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F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and iterate</a:t>
            </a:r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235440" y="41148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We spot-check the results using real cases and adjust our methodology if results are not credible.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err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Buluba</a:t>
            </a:r>
            <a:r>
              <a:rPr lang="en-US" sz="48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 Hospital: Three attempts at linkage</a:t>
            </a:r>
            <a:endParaRPr lang="en-US" sz="4800">
              <a:latin typeface="Georgia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Each attempt: our methodology, our results, our learnings</a:t>
            </a:r>
            <a:endParaRPr lang="en-US" sz="17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" y="4846320"/>
            <a:ext cx="731520" cy="54864"/>
          </a:xfrm>
          <a:prstGeom prst="rect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13E0DA-BB02-47DC-D7F2-83BBB7786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2">
            <a:extLst>
              <a:ext uri="{FF2B5EF4-FFF2-40B4-BE49-F238E27FC236}">
                <a16:creationId xmlns:a16="http://schemas.microsoft.com/office/drawing/2014/main" id="{6505033E-F5C0-CD4E-9AFF-B2FD96986078}"/>
              </a:ext>
            </a:extLst>
          </p:cNvPr>
          <p:cNvSpPr/>
          <p:nvPr/>
        </p:nvSpPr>
        <p:spPr>
          <a:xfrm>
            <a:off x="5161314" y="2714366"/>
            <a:ext cx="6371403" cy="385850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833FD33-8E0C-059B-7E8C-5E3293CD8474}"/>
              </a:ext>
            </a:extLst>
          </p:cNvPr>
          <p:cNvSpPr/>
          <p:nvPr/>
        </p:nvSpPr>
        <p:spPr>
          <a:xfrm>
            <a:off x="548640" y="41148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DATA</a:t>
            </a:r>
            <a:endParaRPr lang="en-US"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B5C0E3E-7FDB-1168-3C38-C0997F0E40CD}"/>
              </a:ext>
            </a:extLst>
          </p:cNvPr>
          <p:cNvSpPr/>
          <p:nvPr/>
        </p:nvSpPr>
        <p:spPr>
          <a:xfrm>
            <a:off x="548640" y="7315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0F3B5C"/>
                </a:solidFill>
                <a:latin typeface="Georgia"/>
              </a:rPr>
              <a:t>Initial dataset: </a:t>
            </a:r>
            <a:r>
              <a:rPr lang="en-US" sz="2800" b="1" err="1">
                <a:solidFill>
                  <a:srgbClr val="0F3B5C"/>
                </a:solidFill>
                <a:latin typeface="Georgia"/>
              </a:rPr>
              <a:t>Buluba</a:t>
            </a:r>
            <a:r>
              <a:rPr lang="en-US" sz="2800" b="1">
                <a:solidFill>
                  <a:srgbClr val="0F3B5C"/>
                </a:solidFill>
                <a:latin typeface="Georgia"/>
              </a:rPr>
              <a:t> Hospital</a:t>
            </a:r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9AEFD7D-8064-62F7-E4B1-105752028C95}"/>
              </a:ext>
            </a:extLst>
          </p:cNvPr>
          <p:cNvSpPr/>
          <p:nvPr/>
        </p:nvSpPr>
        <p:spPr>
          <a:xfrm>
            <a:off x="465489" y="2714367"/>
            <a:ext cx="2208978" cy="385850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7AB8B26-BF01-B874-239B-122FEFCB52AF}"/>
              </a:ext>
            </a:extLst>
          </p:cNvPr>
          <p:cNvSpPr/>
          <p:nvPr/>
        </p:nvSpPr>
        <p:spPr>
          <a:xfrm>
            <a:off x="466261" y="4210101"/>
            <a:ext cx="2208976" cy="862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0F3B5C"/>
                </a:solidFill>
                <a:latin typeface="Georgia"/>
              </a:rPr>
              <a:t>3,839</a:t>
            </a:r>
            <a:endParaRPr lang="en-US" sz="4400"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4BD618D-1D41-D43D-2371-72B1CEA26488}"/>
              </a:ext>
            </a:extLst>
          </p:cNvPr>
          <p:cNvSpPr/>
          <p:nvPr/>
        </p:nvSpPr>
        <p:spPr>
          <a:xfrm>
            <a:off x="465490" y="5076721"/>
            <a:ext cx="22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 visit records</a:t>
            </a:r>
            <a:endParaRPr lang="en-US" sz="1600"/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F61A99FB-86A1-ED48-AB70-DC80A9EEA082}"/>
              </a:ext>
            </a:extLst>
          </p:cNvPr>
          <p:cNvSpPr/>
          <p:nvPr/>
        </p:nvSpPr>
        <p:spPr>
          <a:xfrm>
            <a:off x="466262" y="1783904"/>
            <a:ext cx="11064240" cy="731520"/>
          </a:xfrm>
          <a:prstGeom prst="rect">
            <a:avLst/>
          </a:prstGeom>
          <a:solidFill>
            <a:srgbClr val="0F3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07883989-AAA0-6B9C-3C3C-9E2CABD37E1B}"/>
              </a:ext>
            </a:extLst>
          </p:cNvPr>
          <p:cNvSpPr/>
          <p:nvPr/>
        </p:nvSpPr>
        <p:spPr>
          <a:xfrm>
            <a:off x="694862" y="182962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kern="0" spc="300">
                <a:solidFill>
                  <a:srgbClr val="F18F01"/>
                </a:solidFill>
                <a:latin typeface="Calibri"/>
                <a:ea typeface="Calibri"/>
                <a:cs typeface="Calibri"/>
              </a:rPr>
              <a:t>Starting with a more manageable dataset</a:t>
            </a:r>
            <a:endParaRPr lang="en-US"/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0910B65A-B72A-7DFB-BF32-59D3A6A11984}"/>
              </a:ext>
            </a:extLst>
          </p:cNvPr>
          <p:cNvSpPr/>
          <p:nvPr/>
        </p:nvSpPr>
        <p:spPr>
          <a:xfrm>
            <a:off x="694862" y="210394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FFFFFF"/>
                </a:solidFill>
                <a:ea typeface="Calibri"/>
                <a:cs typeface="Calibri"/>
              </a:rPr>
              <a:t>We started working with the data from a single hospital to identify data issues on a manageable number of records.</a:t>
            </a:r>
          </a:p>
        </p:txBody>
      </p:sp>
      <p:pic>
        <p:nvPicPr>
          <p:cNvPr id="35" name="Picture 34" descr="A graph with a bar graph&#10;&#10;AI-generated content may be incorrect.">
            <a:extLst>
              <a:ext uri="{FF2B5EF4-FFF2-40B4-BE49-F238E27FC236}">
                <a16:creationId xmlns:a16="http://schemas.microsoft.com/office/drawing/2014/main" id="{8B0B74BF-66B8-6D63-E73D-C4767FE36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6314" y="2798291"/>
            <a:ext cx="5438002" cy="3502881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E9E6B413-D852-6F61-70DD-08EA292E90A8}"/>
              </a:ext>
            </a:extLst>
          </p:cNvPr>
          <p:cNvGrpSpPr/>
          <p:nvPr/>
        </p:nvGrpSpPr>
        <p:grpSpPr>
          <a:xfrm>
            <a:off x="2854205" y="2714367"/>
            <a:ext cx="2175510" cy="1868805"/>
            <a:chOff x="445667" y="4454610"/>
            <a:chExt cx="2651760" cy="1554480"/>
          </a:xfrm>
        </p:grpSpPr>
        <p:sp>
          <p:nvSpPr>
            <p:cNvPr id="36" name="Shape 2">
              <a:extLst>
                <a:ext uri="{FF2B5EF4-FFF2-40B4-BE49-F238E27FC236}">
                  <a16:creationId xmlns:a16="http://schemas.microsoft.com/office/drawing/2014/main" id="{7A749554-AD9D-414D-FA53-F3632F951DE6}"/>
                </a:ext>
              </a:extLst>
            </p:cNvPr>
            <p:cNvSpPr/>
            <p:nvPr/>
          </p:nvSpPr>
          <p:spPr>
            <a:xfrm>
              <a:off x="445667" y="4454610"/>
              <a:ext cx="2651760" cy="1554480"/>
            </a:xfrm>
            <a:prstGeom prst="rect">
              <a:avLst/>
            </a:prstGeom>
            <a:solidFill>
              <a:srgbClr val="E8EEF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3">
              <a:extLst>
                <a:ext uri="{FF2B5EF4-FFF2-40B4-BE49-F238E27FC236}">
                  <a16:creationId xmlns:a16="http://schemas.microsoft.com/office/drawing/2014/main" id="{B08FBA87-C79F-A53F-D763-253B7A266858}"/>
                </a:ext>
              </a:extLst>
            </p:cNvPr>
            <p:cNvSpPr/>
            <p:nvPr/>
          </p:nvSpPr>
          <p:spPr>
            <a:xfrm>
              <a:off x="445667" y="4546050"/>
              <a:ext cx="265176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400" b="1">
                  <a:solidFill>
                    <a:schemeClr val="accent2"/>
                  </a:solidFill>
                  <a:latin typeface="Georgia"/>
                </a:rPr>
                <a:t>38%</a:t>
              </a:r>
              <a:endParaRPr lang="en-US" sz="4400">
                <a:solidFill>
                  <a:schemeClr val="accent2"/>
                </a:solidFill>
                <a:ea typeface="Calibri"/>
                <a:cs typeface="Calibri"/>
              </a:endParaRPr>
            </a:p>
          </p:txBody>
        </p:sp>
        <p:sp>
          <p:nvSpPr>
            <p:cNvPr id="38" name="Text 4">
              <a:extLst>
                <a:ext uri="{FF2B5EF4-FFF2-40B4-BE49-F238E27FC236}">
                  <a16:creationId xmlns:a16="http://schemas.microsoft.com/office/drawing/2014/main" id="{D31D66F4-7A24-2F73-8BF4-99CB68DB65F6}"/>
                </a:ext>
              </a:extLst>
            </p:cNvPr>
            <p:cNvSpPr/>
            <p:nvPr/>
          </p:nvSpPr>
          <p:spPr>
            <a:xfrm>
              <a:off x="445667" y="5414730"/>
              <a:ext cx="26517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kern="0" spc="300">
                  <a:solidFill>
                    <a:srgbClr val="5B6B7A"/>
                  </a:solidFill>
                  <a:latin typeface="Calibri"/>
                  <a:ea typeface="Calibri"/>
                  <a:cs typeface="Calibri"/>
                </a:rPr>
                <a:t>Client contacts missing</a:t>
              </a:r>
              <a:endParaRPr lang="en-US" sz="1600">
                <a:ea typeface="Calibri"/>
                <a:cs typeface="Calibri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5C7C62C-9372-7978-9C01-45CDD7DF8FD6}"/>
              </a:ext>
            </a:extLst>
          </p:cNvPr>
          <p:cNvGrpSpPr/>
          <p:nvPr/>
        </p:nvGrpSpPr>
        <p:grpSpPr>
          <a:xfrm>
            <a:off x="2854205" y="4714616"/>
            <a:ext cx="2175510" cy="1859280"/>
            <a:chOff x="445667" y="4454610"/>
            <a:chExt cx="2651760" cy="1554480"/>
          </a:xfrm>
        </p:grpSpPr>
        <p:sp>
          <p:nvSpPr>
            <p:cNvPr id="8" name="Shape 2">
              <a:extLst>
                <a:ext uri="{FF2B5EF4-FFF2-40B4-BE49-F238E27FC236}">
                  <a16:creationId xmlns:a16="http://schemas.microsoft.com/office/drawing/2014/main" id="{73F05D2B-77E6-8C99-A790-E42C62EE1464}"/>
                </a:ext>
              </a:extLst>
            </p:cNvPr>
            <p:cNvSpPr/>
            <p:nvPr/>
          </p:nvSpPr>
          <p:spPr>
            <a:xfrm>
              <a:off x="445667" y="4454610"/>
              <a:ext cx="2651760" cy="1554480"/>
            </a:xfrm>
            <a:prstGeom prst="rect">
              <a:avLst/>
            </a:prstGeom>
            <a:solidFill>
              <a:srgbClr val="E8EEF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3">
              <a:extLst>
                <a:ext uri="{FF2B5EF4-FFF2-40B4-BE49-F238E27FC236}">
                  <a16:creationId xmlns:a16="http://schemas.microsoft.com/office/drawing/2014/main" id="{5B2578F9-129D-D134-7E04-BF1E6E059384}"/>
                </a:ext>
              </a:extLst>
            </p:cNvPr>
            <p:cNvSpPr/>
            <p:nvPr/>
          </p:nvSpPr>
          <p:spPr>
            <a:xfrm>
              <a:off x="445667" y="4546050"/>
              <a:ext cx="265176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400" b="1">
                  <a:solidFill>
                    <a:schemeClr val="accent2"/>
                  </a:solidFill>
                  <a:latin typeface="Georgia"/>
                </a:rPr>
                <a:t>18%</a:t>
              </a:r>
              <a:endParaRPr lang="en-US" sz="4400">
                <a:solidFill>
                  <a:schemeClr val="accent2"/>
                </a:solidFill>
                <a:ea typeface="Calibri"/>
                <a:cs typeface="Calibri"/>
              </a:endParaRPr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0E2B8851-E401-EC04-81E4-55AA77A48D84}"/>
                </a:ext>
              </a:extLst>
            </p:cNvPr>
            <p:cNvSpPr/>
            <p:nvPr/>
          </p:nvSpPr>
          <p:spPr>
            <a:xfrm>
              <a:off x="445667" y="5414730"/>
              <a:ext cx="26517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kern="0" spc="300">
                  <a:solidFill>
                    <a:srgbClr val="5B6B7A"/>
                  </a:solidFill>
                  <a:latin typeface="Calibri"/>
                  <a:ea typeface="Calibri"/>
                  <a:cs typeface="Calibri"/>
                </a:rPr>
                <a:t>Client number missing</a:t>
              </a:r>
              <a:endParaRPr lang="en-US" sz="1600">
                <a:ea typeface="Calibri"/>
                <a:cs typeface="Calibri"/>
              </a:endParaRPr>
            </a:p>
          </p:txBody>
        </p:sp>
      </p:grpSp>
      <p:sp>
        <p:nvSpPr>
          <p:cNvPr id="13" name="Text 67">
            <a:extLst>
              <a:ext uri="{FF2B5EF4-FFF2-40B4-BE49-F238E27FC236}">
                <a16:creationId xmlns:a16="http://schemas.microsoft.com/office/drawing/2014/main" id="{2044932D-6268-C960-118D-18D532111BF1}"/>
              </a:ext>
            </a:extLst>
          </p:cNvPr>
          <p:cNvSpPr/>
          <p:nvPr/>
        </p:nvSpPr>
        <p:spPr>
          <a:xfrm>
            <a:off x="5170170" y="6296025"/>
            <a:ext cx="6377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i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Proportion of missingness for matching-relevant variables</a:t>
            </a:r>
            <a:endParaRPr lang="en-US" sz="16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8013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1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3B5C"/>
                </a:solidFill>
                <a:latin typeface="Georgia"/>
                <a:ea typeface="Georgia" pitchFamily="34" charset="-122"/>
                <a:cs typeface="Georgia" pitchFamily="34" charset="-120"/>
              </a:rPr>
              <a:t>First attempt — generous threshold, all variables included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Start broad: include every variable and accept any pair with a match probability over 85%.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393192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WHAT WE DID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37337" y="3196604"/>
            <a:ext cx="164592" cy="164592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65937" y="30960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Used all 11 matching variables: </a:t>
            </a:r>
            <a:r>
              <a:rPr lang="en-US" sz="160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client_no</a:t>
            </a: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first name, last name, contact, location, </a:t>
            </a:r>
            <a:r>
              <a:rPr lang="en-US" sz="160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est_birth_year</a:t>
            </a: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parity, parity_2, gravida, height, delivery date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4001448"/>
            <a:ext cx="164592" cy="164592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39008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Set match threshold to 85% (a relatively permissive cutoff)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37337" y="4748784"/>
            <a:ext cx="164592" cy="164592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65937" y="4648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patient IDs by grouping all linked record-pairs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2286000"/>
            <a:ext cx="5394960" cy="3931920"/>
          </a:xfrm>
          <a:prstGeom prst="rect">
            <a:avLst/>
          </a:prstGeom>
          <a:solidFill>
            <a:srgbClr val="0F3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0" y="2514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>
                <a:solidFill>
                  <a:srgbClr val="F18F01"/>
                </a:solidFill>
                <a:latin typeface="Calibri"/>
                <a:ea typeface="Calibri"/>
                <a:cs typeface="Calibri"/>
              </a:rPr>
              <a:t>WHAT WE GOT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9224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PATIENTS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49224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497</a:t>
            </a:r>
            <a:endParaRPr lang="en-US" sz="4000"/>
          </a:p>
        </p:txBody>
      </p:sp>
      <p:sp>
        <p:nvSpPr>
          <p:cNvPr id="17" name="Text 15"/>
          <p:cNvSpPr/>
          <p:nvPr/>
        </p:nvSpPr>
        <p:spPr>
          <a:xfrm>
            <a:off x="896112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CLUSTER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896112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18F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2,724</a:t>
            </a:r>
            <a:endParaRPr lang="en-US" sz="4000"/>
          </a:p>
        </p:txBody>
      </p:sp>
      <p:sp>
        <p:nvSpPr>
          <p:cNvPr id="19" name="Shape 17"/>
          <p:cNvSpPr/>
          <p:nvPr/>
        </p:nvSpPr>
        <p:spPr>
          <a:xfrm>
            <a:off x="6492240" y="4480560"/>
            <a:ext cx="4846320" cy="41148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4480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Too lenient — clearly broken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92240" y="50292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 single ‘patient’ with 2,724 visits is impossible. Far too many distinct women have been lumped together.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2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 attempt — same variables, stricter threshold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We increased the threshold for a match to 97% probability in an attempt to break up the giant cluster.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393192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64592" cy="164592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all 11 matching variables — no changes to the variable set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822960" y="3483864"/>
            <a:ext cx="164592" cy="164592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3383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Raised the match threshold from 85% to 97%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822960" y="3986784"/>
            <a:ext cx="164592" cy="164592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1560" y="3886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 fastLink and re-clustered the resulting pairs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6217920" y="2286000"/>
            <a:ext cx="5394960" cy="3931920"/>
          </a:xfrm>
          <a:prstGeom prst="rect">
            <a:avLst/>
          </a:prstGeom>
          <a:solidFill>
            <a:srgbClr val="0F3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0" y="2514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GOT</a:t>
            </a:r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PATIENTS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49224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1,191</a:t>
            </a:r>
            <a:endParaRPr lang="en-US" sz="4000"/>
          </a:p>
        </p:txBody>
      </p:sp>
      <p:sp>
        <p:nvSpPr>
          <p:cNvPr id="17" name="Text 15"/>
          <p:cNvSpPr/>
          <p:nvPr/>
        </p:nvSpPr>
        <p:spPr>
          <a:xfrm>
            <a:off x="896112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CLUSTER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896112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18F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534</a:t>
            </a:r>
            <a:endParaRPr lang="en-US" sz="4000"/>
          </a:p>
        </p:txBody>
      </p:sp>
      <p:sp>
        <p:nvSpPr>
          <p:cNvPr id="19" name="Shape 17"/>
          <p:cNvSpPr/>
          <p:nvPr/>
        </p:nvSpPr>
        <p:spPr>
          <a:xfrm>
            <a:off x="6492240" y="4480560"/>
            <a:ext cx="4846320" cy="411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4480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— but chains persist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6492240" y="50292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More patients identified, biggest cluster has shrunk by 80%. But 534 visits in one ‘patient’ is still impossible: the threshold alone is not enough.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giant cluster forms: ‘friend of a friend’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Matching process:</a:t>
            </a:r>
            <a:endParaRPr lang="en-US" sz="1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Pairwise matches get grouped together</a:t>
            </a:r>
            <a:endParaRPr lang="en-US" sz="1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i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Clusters of records that are linked share a patient ID.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CE1FA8F-D2D5-D05D-26D8-2C778F6C1734}"/>
              </a:ext>
            </a:extLst>
          </p:cNvPr>
          <p:cNvGrpSpPr/>
          <p:nvPr/>
        </p:nvGrpSpPr>
        <p:grpSpPr>
          <a:xfrm>
            <a:off x="1147888" y="3152092"/>
            <a:ext cx="9784080" cy="1965960"/>
            <a:chOff x="1737360" y="3108960"/>
            <a:chExt cx="9784080" cy="1965960"/>
          </a:xfrm>
        </p:grpSpPr>
        <p:sp>
          <p:nvSpPr>
            <p:cNvPr id="5" name="Shape 3"/>
            <p:cNvSpPr/>
            <p:nvPr/>
          </p:nvSpPr>
          <p:spPr>
            <a:xfrm>
              <a:off x="3383280" y="3657600"/>
              <a:ext cx="2697480" cy="0"/>
            </a:xfrm>
            <a:prstGeom prst="line">
              <a:avLst/>
            </a:prstGeom>
            <a:noFill/>
            <a:ln w="50800">
              <a:solidFill>
                <a:srgbClr val="2E8B5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7178040" y="3657600"/>
              <a:ext cx="2697480" cy="0"/>
            </a:xfrm>
            <a:prstGeom prst="line">
              <a:avLst/>
            </a:prstGeom>
            <a:noFill/>
            <a:ln w="50800">
              <a:solidFill>
                <a:srgbClr val="2E8B5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3383280" y="4663440"/>
              <a:ext cx="6492240" cy="0"/>
            </a:xfrm>
            <a:prstGeom prst="line">
              <a:avLst/>
            </a:prstGeom>
            <a:noFill/>
            <a:ln w="38100">
              <a:solidFill>
                <a:srgbClr val="B91C1C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2286000" y="3108960"/>
              <a:ext cx="1097280" cy="1097280"/>
            </a:xfrm>
            <a:prstGeom prst="ellipse">
              <a:avLst/>
            </a:prstGeom>
            <a:solidFill>
              <a:srgbClr val="1C729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2286000" y="3108960"/>
              <a:ext cx="109728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800" b="1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</a:t>
              </a:r>
              <a:endParaRPr lang="en-US" sz="3800"/>
            </a:p>
          </p:txBody>
        </p:sp>
        <p:sp>
          <p:nvSpPr>
            <p:cNvPr id="10" name="Text 8"/>
            <p:cNvSpPr/>
            <p:nvPr/>
          </p:nvSpPr>
          <p:spPr>
            <a:xfrm>
              <a:off x="1737360" y="4297680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>
                  <a:solidFill>
                    <a:srgbClr val="5B6B7A"/>
                  </a:solidFill>
                  <a:latin typeface="Calibri"/>
                  <a:ea typeface="Calibri"/>
                  <a:cs typeface="Calibri"/>
                </a:rPr>
                <a:t>Patient A's visit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6080760" y="3108960"/>
              <a:ext cx="1097280" cy="1097280"/>
            </a:xfrm>
            <a:prstGeom prst="ellipse">
              <a:avLst/>
            </a:prstGeom>
            <a:solidFill>
              <a:srgbClr val="1C729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6080760" y="3108960"/>
              <a:ext cx="109728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800" b="1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B</a:t>
              </a:r>
              <a:endParaRPr lang="en-US" sz="3800"/>
            </a:p>
          </p:txBody>
        </p:sp>
        <p:sp>
          <p:nvSpPr>
            <p:cNvPr id="13" name="Text 11"/>
            <p:cNvSpPr/>
            <p:nvPr/>
          </p:nvSpPr>
          <p:spPr>
            <a:xfrm>
              <a:off x="5532120" y="4297680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>
                  <a:solidFill>
                    <a:srgbClr val="5B6B7A"/>
                  </a:solidFill>
                  <a:latin typeface="Calibri"/>
                  <a:ea typeface="Calibri"/>
                  <a:cs typeface="Calibri"/>
                </a:rPr>
                <a:t>Patient B's visit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9875520" y="3108960"/>
              <a:ext cx="1097280" cy="1097280"/>
            </a:xfrm>
            <a:prstGeom prst="ellipse">
              <a:avLst/>
            </a:prstGeom>
            <a:solidFill>
              <a:srgbClr val="1C7293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9875520" y="3108960"/>
              <a:ext cx="109728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800" b="1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</a:t>
              </a:r>
              <a:endParaRPr lang="en-US" sz="3800"/>
            </a:p>
          </p:txBody>
        </p:sp>
        <p:sp>
          <p:nvSpPr>
            <p:cNvPr id="16" name="Text 14"/>
            <p:cNvSpPr/>
            <p:nvPr/>
          </p:nvSpPr>
          <p:spPr>
            <a:xfrm>
              <a:off x="9326880" y="4297680"/>
              <a:ext cx="21945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>
                  <a:solidFill>
                    <a:srgbClr val="5B6B7A"/>
                  </a:solidFill>
                  <a:latin typeface="Calibri"/>
                  <a:ea typeface="Calibri"/>
                  <a:cs typeface="Calibri"/>
                </a:rPr>
                <a:t>Patient C's visit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3474720" y="3273552"/>
              <a:ext cx="2697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i="1">
                  <a:solidFill>
                    <a:srgbClr val="2E8B5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↔ B match</a:t>
              </a:r>
              <a:endParaRPr lang="en-US" sz="1100"/>
            </a:p>
          </p:txBody>
        </p:sp>
        <p:sp>
          <p:nvSpPr>
            <p:cNvPr id="18" name="Text 16"/>
            <p:cNvSpPr/>
            <p:nvPr/>
          </p:nvSpPr>
          <p:spPr>
            <a:xfrm>
              <a:off x="3474720" y="3822192"/>
              <a:ext cx="2697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>
                  <a:solidFill>
                    <a:srgbClr val="5B6B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(parity, gravida same)</a:t>
              </a:r>
              <a:endParaRPr lang="en-US" sz="1000"/>
            </a:p>
          </p:txBody>
        </p:sp>
        <p:sp>
          <p:nvSpPr>
            <p:cNvPr id="19" name="Text 17"/>
            <p:cNvSpPr/>
            <p:nvPr/>
          </p:nvSpPr>
          <p:spPr>
            <a:xfrm>
              <a:off x="7269480" y="3273552"/>
              <a:ext cx="26974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i="1">
                  <a:solidFill>
                    <a:srgbClr val="2E8B5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 ↔ C match</a:t>
              </a:r>
              <a:endParaRPr lang="en-US" sz="1100"/>
            </a:p>
          </p:txBody>
        </p:sp>
        <p:sp>
          <p:nvSpPr>
            <p:cNvPr id="20" name="Text 18"/>
            <p:cNvSpPr/>
            <p:nvPr/>
          </p:nvSpPr>
          <p:spPr>
            <a:xfrm>
              <a:off x="7269480" y="3822192"/>
              <a:ext cx="2697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>
                  <a:solidFill>
                    <a:srgbClr val="5B6B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(height same)</a:t>
              </a:r>
              <a:endParaRPr lang="en-US" sz="1000"/>
            </a:p>
          </p:txBody>
        </p:sp>
        <p:sp>
          <p:nvSpPr>
            <p:cNvPr id="21" name="Text 19"/>
            <p:cNvSpPr/>
            <p:nvPr/>
          </p:nvSpPr>
          <p:spPr>
            <a:xfrm>
              <a:off x="3383280" y="4709160"/>
              <a:ext cx="6492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 b="1" i="1">
                  <a:solidFill>
                    <a:srgbClr val="B91C1C"/>
                  </a:solidFill>
                  <a:latin typeface="Calibri"/>
                  <a:ea typeface="Calibri"/>
                  <a:cs typeface="Calibri"/>
                </a:rPr>
                <a:t>A ↔ C  never match directly but get grouped anyway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22" name="Shape 20"/>
          <p:cNvSpPr/>
          <p:nvPr/>
        </p:nvSpPr>
        <p:spPr>
          <a:xfrm>
            <a:off x="548640" y="5394960"/>
            <a:ext cx="11064240" cy="86868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5486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‘Transitive closure’</a:t>
            </a: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: Common values (e.g. parity = 2 and gravida = 3), or unreliable values with limited ranges (e.g. height) chain unrelated women together through intermediates. Tightening the threshold alone will not solve this.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chains look like inside a cluster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Each dot is one ANC visit; each line is a match. A real cluster of repeat visits should be tightly interconnected.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6858000" cy="3657600"/>
          </a:xfrm>
          <a:prstGeom prst="rect">
            <a:avLst/>
          </a:prstGeom>
          <a:solidFill>
            <a:srgbClr val="F7F9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731520" y="59436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Second-largest cluster (43 records, threshold 0.97)</a:t>
            </a:r>
            <a:endParaRPr lang="en-US" sz="1600"/>
          </a:p>
        </p:txBody>
      </p:sp>
      <p:sp>
        <p:nvSpPr>
          <p:cNvPr id="70" name="Shape 68"/>
          <p:cNvSpPr/>
          <p:nvPr/>
        </p:nvSpPr>
        <p:spPr>
          <a:xfrm>
            <a:off x="7680960" y="2606040"/>
            <a:ext cx="3931920" cy="365760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795528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955280" y="32461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Long chains form on weak evidence: matches on variables many women share. The fix is not a higher threshold but a smaller, more distinctive variable set.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7955280" y="4709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955280" y="4983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0F3B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anc_parity, anc_parity_2, anc_gravida, anc_height</a:t>
            </a:r>
            <a:endParaRPr lang="en-US" sz="1600"/>
          </a:p>
        </p:txBody>
      </p:sp>
      <p:pic>
        <p:nvPicPr>
          <p:cNvPr id="76" name="Picture 75" descr="A diagram of a cluster&#10;&#10;AI-generated content may be incorrect.">
            <a:extLst>
              <a:ext uri="{FF2B5EF4-FFF2-40B4-BE49-F238E27FC236}">
                <a16:creationId xmlns:a16="http://schemas.microsoft.com/office/drawing/2014/main" id="{A5D18A49-AB7D-1F2D-C59F-D931BC72D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342" y="2735348"/>
            <a:ext cx="3745128" cy="32202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3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Third attempt — stricter threshold and fewer variables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Keep the 97% threshold; drop four variables with common values or messy data.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393192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980944"/>
            <a:ext cx="164592" cy="164592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threshold at 0.97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822960" y="3642015"/>
            <a:ext cx="164592" cy="164592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3541431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</a:t>
            </a:r>
            <a:r>
              <a:rPr lang="en-US" sz="16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anc_parity</a:t>
            </a:r>
            <a:r>
              <a:rPr lang="en-US" sz="16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anc_parity_2, </a:t>
            </a:r>
            <a:r>
              <a:rPr lang="en-US" sz="16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anc_gravida</a:t>
            </a:r>
            <a:r>
              <a:rPr lang="en-US" sz="16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anc_height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808583" y="4475614"/>
            <a:ext cx="164592" cy="164592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37183" y="437503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client_no, names, contact, location, est_birth_year, numeric_delivery_date — the seven most individuating fields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6217920" y="2286000"/>
            <a:ext cx="5394960" cy="3931920"/>
          </a:xfrm>
          <a:prstGeom prst="rect">
            <a:avLst/>
          </a:prstGeom>
          <a:solidFill>
            <a:srgbClr val="0F3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0" y="2514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GOT</a:t>
            </a:r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PATIENTS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49224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1,759</a:t>
            </a:r>
            <a:endParaRPr lang="en-US" sz="4000"/>
          </a:p>
        </p:txBody>
      </p:sp>
      <p:sp>
        <p:nvSpPr>
          <p:cNvPr id="17" name="Text 15"/>
          <p:cNvSpPr/>
          <p:nvPr/>
        </p:nvSpPr>
        <p:spPr>
          <a:xfrm>
            <a:off x="896112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CLUSTER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896112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18F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000"/>
          </a:p>
        </p:txBody>
      </p:sp>
      <p:sp>
        <p:nvSpPr>
          <p:cNvPr id="19" name="Shape 17"/>
          <p:cNvSpPr/>
          <p:nvPr/>
        </p:nvSpPr>
        <p:spPr>
          <a:xfrm>
            <a:off x="6492240" y="4480560"/>
            <a:ext cx="4846320" cy="41148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4480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 — adopted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492240" y="50292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Patient count increased by 550+ and the largest cluster is now 10 visits — clinically realistic for a high-volume ANC client over two years.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— client 189 splits cleanly into 4 patients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The same client number (189) was used by multiple women. The final model assigns four separate patient IDs , matching the manual reading of the records.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265176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#387</a:t>
            </a: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i="1">
                <a:solidFill>
                  <a:srgbClr val="0F3B5C"/>
                </a:solidFill>
                <a:latin typeface="Calibri"/>
                <a:ea typeface="Calibri"/>
                <a:cs typeface="Calibri"/>
              </a:rPr>
              <a:t>Patient A</a:t>
            </a:r>
            <a:endParaRPr lang="en-US" i="1"/>
          </a:p>
        </p:txBody>
      </p:sp>
      <p:sp>
        <p:nvSpPr>
          <p:cNvPr id="9" name="Text 7"/>
          <p:cNvSpPr/>
          <p:nvPr/>
        </p:nvSpPr>
        <p:spPr>
          <a:xfrm>
            <a:off x="777240" y="3931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visit</a:t>
            </a:r>
            <a:endParaRPr lang="en-US" sz="2800"/>
          </a:p>
        </p:txBody>
      </p:sp>
      <p:sp>
        <p:nvSpPr>
          <p:cNvPr id="10" name="Text 8"/>
          <p:cNvSpPr/>
          <p:nvPr/>
        </p:nvSpPr>
        <p:spPr>
          <a:xfrm>
            <a:off x="777240" y="4754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Distinct name and earliest delivery date by almost 1 year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83280" y="256032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83280" y="2560320"/>
            <a:ext cx="2651760" cy="457200"/>
          </a:xfrm>
          <a:prstGeom prst="rect">
            <a:avLst/>
          </a:prstGeom>
          <a:solidFill>
            <a:srgbClr val="0F3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6616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#341</a:t>
            </a: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11880" y="3200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i="1">
                <a:solidFill>
                  <a:srgbClr val="0F3B5C"/>
                </a:solidFill>
                <a:latin typeface="Calibri"/>
                <a:ea typeface="Calibri"/>
                <a:cs typeface="Calibri"/>
              </a:rPr>
              <a:t>Patient B</a:t>
            </a:r>
            <a:endParaRPr lang="en-US" i="1"/>
          </a:p>
        </p:txBody>
      </p:sp>
      <p:sp>
        <p:nvSpPr>
          <p:cNvPr id="15" name="Text 13"/>
          <p:cNvSpPr/>
          <p:nvPr/>
        </p:nvSpPr>
        <p:spPr>
          <a:xfrm>
            <a:off x="3611880" y="3931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visits</a:t>
            </a:r>
            <a:endParaRPr lang="en-US" sz="2800"/>
          </a:p>
        </p:txBody>
      </p:sp>
      <p:sp>
        <p:nvSpPr>
          <p:cNvPr id="16" name="Text 14"/>
          <p:cNvSpPr/>
          <p:nvPr/>
        </p:nvSpPr>
        <p:spPr>
          <a:xfrm>
            <a:off x="3611880" y="4754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Slight spelling drift in names and contact number correctly merged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17920" y="256032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6217920" y="2560320"/>
            <a:ext cx="2651760" cy="457200"/>
          </a:xfrm>
          <a:prstGeom prst="rect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#201</a:t>
            </a:r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46520" y="3200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i="1">
                <a:solidFill>
                  <a:srgbClr val="0F3B5C"/>
                </a:solidFill>
                <a:latin typeface="Calibri"/>
                <a:ea typeface="Calibri"/>
                <a:cs typeface="Calibri"/>
              </a:rPr>
              <a:t>Patient C</a:t>
            </a:r>
            <a:endParaRPr lang="en-US" i="1"/>
          </a:p>
        </p:txBody>
      </p:sp>
      <p:sp>
        <p:nvSpPr>
          <p:cNvPr id="21" name="Text 19"/>
          <p:cNvSpPr/>
          <p:nvPr/>
        </p:nvSpPr>
        <p:spPr>
          <a:xfrm>
            <a:off x="6446520" y="3931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E36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visit</a:t>
            </a:r>
            <a:endParaRPr lang="en-US" sz="2800"/>
          </a:p>
        </p:txBody>
      </p:sp>
      <p:sp>
        <p:nvSpPr>
          <p:cNvPr id="22" name="Text 20"/>
          <p:cNvSpPr/>
          <p:nvPr/>
        </p:nvSpPr>
        <p:spPr>
          <a:xfrm>
            <a:off x="6446520" y="4754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Distinct name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052560" y="256032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052560" y="2560320"/>
            <a:ext cx="2651760" cy="45720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23544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#41</a:t>
            </a:r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281160" y="3200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i="1">
                <a:solidFill>
                  <a:srgbClr val="0F3B5C"/>
                </a:solidFill>
                <a:latin typeface="Calibri"/>
                <a:ea typeface="Calibri"/>
                <a:cs typeface="Calibri"/>
              </a:rPr>
              <a:t>Patient D</a:t>
            </a:r>
            <a:endParaRPr lang="en-US" i="1"/>
          </a:p>
        </p:txBody>
      </p:sp>
      <p:sp>
        <p:nvSpPr>
          <p:cNvPr id="27" name="Text 25"/>
          <p:cNvSpPr/>
          <p:nvPr/>
        </p:nvSpPr>
        <p:spPr>
          <a:xfrm>
            <a:off x="9281160" y="3931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visits</a:t>
            </a:r>
            <a:endParaRPr lang="en-US" sz="2800"/>
          </a:p>
        </p:txBody>
      </p:sp>
      <p:sp>
        <p:nvSpPr>
          <p:cNvPr id="28" name="Text 26"/>
          <p:cNvSpPr/>
          <p:nvPr/>
        </p:nvSpPr>
        <p:spPr>
          <a:xfrm>
            <a:off x="9281160" y="47548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Younger patient with matching name and consistent contact number (when present).</a:t>
            </a:r>
            <a:endParaRPr lang="en-US" sz="1600" i="1">
              <a:solidFill>
                <a:srgbClr val="5B6B7A"/>
              </a:solidFill>
              <a:ea typeface="Calibri"/>
              <a:cs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  Four distinct women, correctly separated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8BA705-C1A5-2C53-0522-888F42F53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76247BF-8B9F-FE99-E23B-10626D68ED7A}"/>
              </a:ext>
            </a:extLst>
          </p:cNvPr>
          <p:cNvSpPr/>
          <p:nvPr/>
        </p:nvSpPr>
        <p:spPr>
          <a:xfrm>
            <a:off x="548640" y="41148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D7C3343-07CC-1BEF-5A96-68631E69610E}"/>
              </a:ext>
            </a:extLst>
          </p:cNvPr>
          <p:cNvSpPr/>
          <p:nvPr/>
        </p:nvSpPr>
        <p:spPr>
          <a:xfrm>
            <a:off x="548640" y="7315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0F3B5C"/>
                </a:solidFill>
                <a:latin typeface="Georgia"/>
                <a:ea typeface="Georgia" pitchFamily="34" charset="-122"/>
                <a:cs typeface="Georgia" pitchFamily="34" charset="-120"/>
              </a:rPr>
              <a:t>Validation — are we now too strict?</a:t>
            </a:r>
            <a:endParaRPr lang="en-US" sz="28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12FE1F-7882-4234-FEDA-05345EFF305A}"/>
              </a:ext>
            </a:extLst>
          </p:cNvPr>
          <p:cNvSpPr/>
          <p:nvPr/>
        </p:nvSpPr>
        <p:spPr>
          <a:xfrm>
            <a:off x="548640" y="16916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We do not want to overcorrect and separate appointments that should be identified as belonging to the same patient.</a:t>
            </a:r>
            <a:endParaRPr lang="en-US" sz="16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FCE4FCC-EE46-18DA-0400-7F859107737C}"/>
              </a:ext>
            </a:extLst>
          </p:cNvPr>
          <p:cNvSpPr/>
          <p:nvPr/>
        </p:nvSpPr>
        <p:spPr>
          <a:xfrm>
            <a:off x="73152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#387</a:t>
            </a:r>
            <a:endParaRPr lang="en-US" sz="11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47CB5F2-BB0F-40F8-0A3A-B0E95360D3C3}"/>
              </a:ext>
            </a:extLst>
          </p:cNvPr>
          <p:cNvSpPr/>
          <p:nvPr/>
        </p:nvSpPr>
        <p:spPr>
          <a:xfrm>
            <a:off x="356616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#341</a:t>
            </a:r>
            <a:endParaRPr lang="en-US" sz="11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FBEA066-33C2-8273-C548-6976555874AD}"/>
              </a:ext>
            </a:extLst>
          </p:cNvPr>
          <p:cNvSpPr/>
          <p:nvPr/>
        </p:nvSpPr>
        <p:spPr>
          <a:xfrm>
            <a:off x="640080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#201</a:t>
            </a:r>
            <a:endParaRPr lang="en-US" sz="11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96DB36A-0B42-B23E-21D4-B8FF07692843}"/>
              </a:ext>
            </a:extLst>
          </p:cNvPr>
          <p:cNvSpPr/>
          <p:nvPr/>
        </p:nvSpPr>
        <p:spPr>
          <a:xfrm>
            <a:off x="923544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#41</a:t>
            </a:r>
            <a:endParaRPr lang="en-US" sz="110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60EE3131-2F3A-62CC-D329-BD62670B08AF}"/>
              </a:ext>
            </a:extLst>
          </p:cNvPr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443638A-664C-984D-07E9-C8ED605781EB}"/>
              </a:ext>
            </a:extLst>
          </p:cNvPr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FFFFFF"/>
                </a:solidFill>
                <a:ea typeface="+mn-lt"/>
                <a:cs typeface="+mn-lt"/>
              </a:rPr>
              <a:t>✗</a:t>
            </a:r>
            <a:r>
              <a:rPr lang="en-US" sz="1600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Likely incorrectly separating appointments belonging to the same person</a:t>
            </a:r>
            <a:endParaRPr lang="en-US" sz="1600">
              <a:ea typeface="Calibri"/>
              <a:cs typeface="Calibri"/>
            </a:endParaRP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5C550A08-F7C3-451E-6235-CC9DFAB48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819862"/>
              </p:ext>
            </p:extLst>
          </p:nvPr>
        </p:nvGraphicFramePr>
        <p:xfrm>
          <a:off x="454214" y="2844134"/>
          <a:ext cx="1104163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6848">
                  <a:extLst>
                    <a:ext uri="{9D8B030D-6E8A-4147-A177-3AD203B41FA5}">
                      <a16:colId xmlns:a16="http://schemas.microsoft.com/office/drawing/2014/main" val="1947565001"/>
                    </a:ext>
                  </a:extLst>
                </a:gridCol>
                <a:gridCol w="1226848">
                  <a:extLst>
                    <a:ext uri="{9D8B030D-6E8A-4147-A177-3AD203B41FA5}">
                      <a16:colId xmlns:a16="http://schemas.microsoft.com/office/drawing/2014/main" val="1897483303"/>
                    </a:ext>
                  </a:extLst>
                </a:gridCol>
                <a:gridCol w="1226848">
                  <a:extLst>
                    <a:ext uri="{9D8B030D-6E8A-4147-A177-3AD203B41FA5}">
                      <a16:colId xmlns:a16="http://schemas.microsoft.com/office/drawing/2014/main" val="3424849880"/>
                    </a:ext>
                  </a:extLst>
                </a:gridCol>
                <a:gridCol w="1226848">
                  <a:extLst>
                    <a:ext uri="{9D8B030D-6E8A-4147-A177-3AD203B41FA5}">
                      <a16:colId xmlns:a16="http://schemas.microsoft.com/office/drawing/2014/main" val="4038653119"/>
                    </a:ext>
                  </a:extLst>
                </a:gridCol>
                <a:gridCol w="1226848">
                  <a:extLst>
                    <a:ext uri="{9D8B030D-6E8A-4147-A177-3AD203B41FA5}">
                      <a16:colId xmlns:a16="http://schemas.microsoft.com/office/drawing/2014/main" val="2747816487"/>
                    </a:ext>
                  </a:extLst>
                </a:gridCol>
                <a:gridCol w="1226848">
                  <a:extLst>
                    <a:ext uri="{9D8B030D-6E8A-4147-A177-3AD203B41FA5}">
                      <a16:colId xmlns:a16="http://schemas.microsoft.com/office/drawing/2014/main" val="3643332653"/>
                    </a:ext>
                  </a:extLst>
                </a:gridCol>
                <a:gridCol w="1226848">
                  <a:extLst>
                    <a:ext uri="{9D8B030D-6E8A-4147-A177-3AD203B41FA5}">
                      <a16:colId xmlns:a16="http://schemas.microsoft.com/office/drawing/2014/main" val="677363947"/>
                    </a:ext>
                  </a:extLst>
                </a:gridCol>
                <a:gridCol w="1226848">
                  <a:extLst>
                    <a:ext uri="{9D8B030D-6E8A-4147-A177-3AD203B41FA5}">
                      <a16:colId xmlns:a16="http://schemas.microsoft.com/office/drawing/2014/main" val="2978983597"/>
                    </a:ext>
                  </a:extLst>
                </a:gridCol>
                <a:gridCol w="1226848">
                  <a:extLst>
                    <a:ext uri="{9D8B030D-6E8A-4147-A177-3AD203B41FA5}">
                      <a16:colId xmlns:a16="http://schemas.microsoft.com/office/drawing/2014/main" val="784420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Assigned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Visit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Client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Contact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Estimated birth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Height &amp; parity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Delivery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Parish &amp; village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322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Patient #1379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2024-11-21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[missing]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Lukone</a:t>
                      </a:r>
                      <a:r>
                        <a:rPr lang="en-US"/>
                        <a:t>, </a:t>
                      </a:r>
                      <a:r>
                        <a:rPr lang="en-US" err="1"/>
                        <a:t>Lukone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009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Patient #1711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2024-12-19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Katonte</a:t>
                      </a:r>
                      <a:r>
                        <a:rPr lang="en-US"/>
                        <a:t>, </a:t>
                      </a:r>
                      <a:r>
                        <a:rPr lang="en-US" err="1"/>
                        <a:t>Katonte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08573"/>
                  </a:ext>
                </a:extLst>
              </a:tr>
            </a:tbl>
          </a:graphicData>
        </a:graphic>
      </p:graphicFrame>
      <p:sp>
        <p:nvSpPr>
          <p:cNvPr id="34" name="Shape 2">
            <a:extLst>
              <a:ext uri="{FF2B5EF4-FFF2-40B4-BE49-F238E27FC236}">
                <a16:creationId xmlns:a16="http://schemas.microsoft.com/office/drawing/2014/main" id="{BE0E1459-A1F1-A1D2-0AF5-739884F39796}"/>
              </a:ext>
            </a:extLst>
          </p:cNvPr>
          <p:cNvSpPr/>
          <p:nvPr/>
        </p:nvSpPr>
        <p:spPr>
          <a:xfrm>
            <a:off x="4170714" y="3534136"/>
            <a:ext cx="1120346" cy="11705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lIns="91440" tIns="45720" rIns="91440" bIns="45720" anchor="ctr"/>
          <a:lstStyle/>
          <a:p>
            <a:pPr algn="ctr"/>
            <a:r>
              <a:rPr lang="en-US">
                <a:ea typeface="Calibri"/>
                <a:cs typeface="Calibri"/>
              </a:rPr>
              <a:t>Off by 1 letter</a:t>
            </a:r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CC2C8A0C-DC50-9081-1970-97713B7CDEE1}"/>
              </a:ext>
            </a:extLst>
          </p:cNvPr>
          <p:cNvSpPr/>
          <p:nvPr/>
        </p:nvSpPr>
        <p:spPr>
          <a:xfrm>
            <a:off x="6631768" y="3534136"/>
            <a:ext cx="1120346" cy="11705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lIns="91440" tIns="45720" rIns="91440" bIns="45720" anchor="ctr"/>
          <a:lstStyle/>
          <a:p>
            <a:pPr algn="ctr"/>
            <a:r>
              <a:rPr lang="en-US">
                <a:ea typeface="Calibri"/>
                <a:cs typeface="Calibri"/>
              </a:rPr>
              <a:t>Matching</a:t>
            </a:r>
            <a:endParaRPr lang="en-US"/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661C1357-F279-D642-C9E7-4B7BE853E173}"/>
              </a:ext>
            </a:extLst>
          </p:cNvPr>
          <p:cNvSpPr/>
          <p:nvPr/>
        </p:nvSpPr>
        <p:spPr>
          <a:xfrm>
            <a:off x="7867444" y="3534136"/>
            <a:ext cx="1120346" cy="11705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lIns="91440" tIns="45720" rIns="91440" bIns="45720" anchor="ctr"/>
          <a:lstStyle/>
          <a:p>
            <a:pPr algn="ctr"/>
            <a:r>
              <a:rPr lang="en-US">
                <a:ea typeface="Calibri"/>
                <a:cs typeface="Calibri"/>
              </a:rPr>
              <a:t>Matching</a:t>
            </a:r>
            <a:endParaRPr lang="en-US"/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079A18A0-B1DA-E0E0-6CC0-5BAB026BC4CA}"/>
              </a:ext>
            </a:extLst>
          </p:cNvPr>
          <p:cNvSpPr/>
          <p:nvPr/>
        </p:nvSpPr>
        <p:spPr>
          <a:xfrm>
            <a:off x="9061930" y="3534136"/>
            <a:ext cx="1120346" cy="11705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lIns="91440" tIns="45720" rIns="91440" bIns="45720" anchor="ctr"/>
          <a:lstStyle/>
          <a:p>
            <a:pPr algn="ctr"/>
            <a:r>
              <a:rPr lang="en-US">
                <a:ea typeface="Calibri"/>
                <a:cs typeface="Calibri"/>
              </a:rPr>
              <a:t>25 days apart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543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journey at a glance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457200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4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1</a:t>
            </a:r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variables · threshold 0.85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PATIENTS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497</a:t>
            </a:r>
            <a:endParaRPr lang="en-US" sz="360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CLUSTER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2,724</a:t>
            </a:r>
            <a:endParaRPr lang="en-US" sz="3600"/>
          </a:p>
        </p:txBody>
      </p:sp>
      <p:sp>
        <p:nvSpPr>
          <p:cNvPr id="11" name="Shape 9"/>
          <p:cNvSpPr/>
          <p:nvPr/>
        </p:nvSpPr>
        <p:spPr>
          <a:xfrm>
            <a:off x="822960" y="5532120"/>
            <a:ext cx="3017520" cy="50292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5532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lenient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4297680" y="1783080"/>
            <a:ext cx="3566160" cy="457200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2057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4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2</a:t>
            </a:r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variables · threshold 0.97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457200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PATIENTS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4572000" y="3291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1,191</a:t>
            </a:r>
            <a:endParaRPr lang="en-US" sz="3600"/>
          </a:p>
        </p:txBody>
      </p:sp>
      <p:sp>
        <p:nvSpPr>
          <p:cNvPr id="18" name="Text 16"/>
          <p:cNvSpPr/>
          <p:nvPr/>
        </p:nvSpPr>
        <p:spPr>
          <a:xfrm>
            <a:off x="457200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CLUSTER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4572000" y="43891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534</a:t>
            </a:r>
            <a:endParaRPr lang="en-US" sz="3600"/>
          </a:p>
        </p:txBody>
      </p:sp>
      <p:sp>
        <p:nvSpPr>
          <p:cNvPr id="20" name="Shape 18"/>
          <p:cNvSpPr/>
          <p:nvPr/>
        </p:nvSpPr>
        <p:spPr>
          <a:xfrm>
            <a:off x="4572000" y="5532120"/>
            <a:ext cx="3017520" cy="5029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0" y="5532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Improved — chains remain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046720" y="1783080"/>
            <a:ext cx="3566160" cy="4572000"/>
          </a:xfrm>
          <a:prstGeom prst="rect">
            <a:avLst/>
          </a:prstGeom>
          <a:solidFill>
            <a:srgbClr val="0F3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321040" y="2057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40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3</a:t>
            </a:r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21040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Distinctive variables · threshold 0.97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832104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PATIENTS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8321040" y="3291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1,759</a:t>
            </a:r>
            <a:endParaRPr lang="en-US" sz="3600"/>
          </a:p>
        </p:txBody>
      </p:sp>
      <p:sp>
        <p:nvSpPr>
          <p:cNvPr id="27" name="Text 25"/>
          <p:cNvSpPr/>
          <p:nvPr/>
        </p:nvSpPr>
        <p:spPr>
          <a:xfrm>
            <a:off x="832104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CLUSTER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8321040" y="43891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600"/>
          </a:p>
        </p:txBody>
      </p:sp>
      <p:sp>
        <p:nvSpPr>
          <p:cNvPr id="29" name="Shape 27"/>
          <p:cNvSpPr/>
          <p:nvPr/>
        </p:nvSpPr>
        <p:spPr>
          <a:xfrm>
            <a:off x="8321040" y="5532120"/>
            <a:ext cx="3017520" cy="50292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321040" y="5532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 — adopted</a:t>
            </a:r>
            <a:endParaRPr lang="en-US"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B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F5D25C-C115-4ADE-0BC5-816A06499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EA1449E-79EE-C2F1-3359-B07D0A77A847}"/>
              </a:ext>
            </a:extLst>
          </p:cNvPr>
          <p:cNvSpPr/>
          <p:nvPr/>
        </p:nvSpPr>
        <p:spPr>
          <a:xfrm>
            <a:off x="91440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4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5F8350-6392-F731-B1EA-8ACDA42B564F}"/>
              </a:ext>
            </a:extLst>
          </p:cNvPr>
          <p:cNvSpPr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>
                <a:solidFill>
                  <a:srgbClr val="FFFFFF"/>
                </a:solidFill>
                <a:latin typeface="Georgia"/>
              </a:rPr>
              <a:t>Two hospitals: total linkage attempt</a:t>
            </a:r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EAE7876-F3C6-28A2-FF3E-264C96E23AA1}"/>
              </a:ext>
            </a:extLst>
          </p:cNvPr>
          <p:cNvSpPr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Linkage on </a:t>
            </a:r>
            <a:r>
              <a:rPr lang="en-US" sz="1700" i="1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Mayuge</a:t>
            </a:r>
            <a:r>
              <a:rPr lang="en-US" sz="17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HC IV and </a:t>
            </a:r>
            <a:r>
              <a:rPr lang="en-US" sz="1700" i="1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Bulubu</a:t>
            </a:r>
            <a:r>
              <a:rPr lang="en-US" sz="17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Hospital </a:t>
            </a:r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045D137-BF76-4388-40DA-CEEA12DFC098}"/>
              </a:ext>
            </a:extLst>
          </p:cNvPr>
          <p:cNvSpPr/>
          <p:nvPr/>
        </p:nvSpPr>
        <p:spPr>
          <a:xfrm>
            <a:off x="914400" y="4846320"/>
            <a:ext cx="731520" cy="54864"/>
          </a:xfrm>
          <a:prstGeom prst="rect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092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FF3DB5-D025-E6B1-2E5C-B86F41B09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">
            <a:extLst>
              <a:ext uri="{FF2B5EF4-FFF2-40B4-BE49-F238E27FC236}">
                <a16:creationId xmlns:a16="http://schemas.microsoft.com/office/drawing/2014/main" id="{4E1C18DC-17B2-AC16-36F2-5017705C80AF}"/>
              </a:ext>
            </a:extLst>
          </p:cNvPr>
          <p:cNvSpPr/>
          <p:nvPr/>
        </p:nvSpPr>
        <p:spPr>
          <a:xfrm>
            <a:off x="7004530" y="2724663"/>
            <a:ext cx="4486998" cy="385850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39B0F4B4-EFEF-B44A-91C2-A7DA2AA44632}"/>
              </a:ext>
            </a:extLst>
          </p:cNvPr>
          <p:cNvSpPr/>
          <p:nvPr/>
        </p:nvSpPr>
        <p:spPr>
          <a:xfrm>
            <a:off x="465746" y="2724663"/>
            <a:ext cx="6371403" cy="385850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6C785220-4BCD-0C0C-0666-822A2D9DB5FA}"/>
              </a:ext>
            </a:extLst>
          </p:cNvPr>
          <p:cNvSpPr/>
          <p:nvPr/>
        </p:nvSpPr>
        <p:spPr>
          <a:xfrm>
            <a:off x="548640" y="41148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DATA</a:t>
            </a:r>
            <a:endParaRPr lang="en-US"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AB1605-8C9B-0693-172B-12554BC8A14E}"/>
              </a:ext>
            </a:extLst>
          </p:cNvPr>
          <p:cNvSpPr/>
          <p:nvPr/>
        </p:nvSpPr>
        <p:spPr>
          <a:xfrm>
            <a:off x="548640" y="7315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0F3B5C"/>
                </a:solidFill>
                <a:latin typeface="Georgia"/>
              </a:rPr>
              <a:t>Total dataset: </a:t>
            </a:r>
            <a:r>
              <a:rPr lang="en-US" sz="2800" b="1" err="1">
                <a:solidFill>
                  <a:srgbClr val="0F3B5C"/>
                </a:solidFill>
                <a:latin typeface="Georgia"/>
              </a:rPr>
              <a:t>Mayuge</a:t>
            </a:r>
            <a:r>
              <a:rPr lang="en-US" sz="2800" b="1">
                <a:solidFill>
                  <a:srgbClr val="0F3B5C"/>
                </a:solidFill>
                <a:latin typeface="Georgia"/>
              </a:rPr>
              <a:t> HC IV &amp; </a:t>
            </a:r>
            <a:r>
              <a:rPr lang="en-US" sz="2800" b="1" err="1">
                <a:solidFill>
                  <a:srgbClr val="0F3B5C"/>
                </a:solidFill>
                <a:latin typeface="Georgia"/>
              </a:rPr>
              <a:t>Buluba</a:t>
            </a:r>
            <a:r>
              <a:rPr lang="en-US" sz="2800" b="1">
                <a:solidFill>
                  <a:srgbClr val="0F3B5C"/>
                </a:solidFill>
                <a:latin typeface="Georgia"/>
              </a:rPr>
              <a:t> Hospital</a:t>
            </a:r>
            <a:endParaRPr lang="en-US"/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66155BA8-E682-C094-7A79-4886BBC31F2A}"/>
              </a:ext>
            </a:extLst>
          </p:cNvPr>
          <p:cNvSpPr/>
          <p:nvPr/>
        </p:nvSpPr>
        <p:spPr>
          <a:xfrm>
            <a:off x="466262" y="1822004"/>
            <a:ext cx="11035665" cy="817245"/>
          </a:xfrm>
          <a:prstGeom prst="rect">
            <a:avLst/>
          </a:prstGeom>
          <a:solidFill>
            <a:srgbClr val="0F3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9F2FFA46-C309-6694-CAB7-B17D95038687}"/>
              </a:ext>
            </a:extLst>
          </p:cNvPr>
          <p:cNvSpPr/>
          <p:nvPr/>
        </p:nvSpPr>
        <p:spPr>
          <a:xfrm>
            <a:off x="694862" y="182962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kern="0" spc="300">
                <a:solidFill>
                  <a:srgbClr val="F18F01"/>
                </a:solidFill>
                <a:latin typeface="Calibri"/>
                <a:ea typeface="Calibri"/>
                <a:cs typeface="Calibri"/>
              </a:rPr>
              <a:t>Complete dataset</a:t>
            </a:r>
            <a:endParaRPr lang="en-US"/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DDC30C91-828F-3540-4460-27472279EDA8}"/>
              </a:ext>
            </a:extLst>
          </p:cNvPr>
          <p:cNvSpPr/>
          <p:nvPr/>
        </p:nvSpPr>
        <p:spPr>
          <a:xfrm>
            <a:off x="694862" y="210394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FFFFFF"/>
                </a:solidFill>
                <a:ea typeface="Calibri"/>
                <a:cs typeface="Calibri"/>
              </a:rPr>
              <a:t>We now have 22,037 visit records: 3,839 from </a:t>
            </a:r>
            <a:r>
              <a:rPr lang="en-US" sz="1600" err="1">
                <a:solidFill>
                  <a:srgbClr val="FFFFFF"/>
                </a:solidFill>
                <a:ea typeface="Calibri"/>
                <a:cs typeface="Calibri"/>
              </a:rPr>
              <a:t>Buluba</a:t>
            </a:r>
            <a:r>
              <a:rPr lang="en-US" sz="1600">
                <a:solidFill>
                  <a:srgbClr val="FFFFFF"/>
                </a:solidFill>
                <a:ea typeface="Calibri"/>
                <a:cs typeface="Calibri"/>
              </a:rPr>
              <a:t> and </a:t>
            </a:r>
            <a:r>
              <a:rPr lang="en-US" sz="1600">
                <a:solidFill>
                  <a:srgbClr val="FFFFFF"/>
                </a:solidFill>
                <a:ea typeface="+mn-lt"/>
                <a:cs typeface="+mn-lt"/>
              </a:rPr>
              <a:t>18,168 from </a:t>
            </a:r>
            <a:r>
              <a:rPr lang="en-US" sz="1600" err="1">
                <a:solidFill>
                  <a:srgbClr val="FFFFFF"/>
                </a:solidFill>
                <a:ea typeface="+mn-lt"/>
                <a:cs typeface="+mn-lt"/>
              </a:rPr>
              <a:t>Mayuge</a:t>
            </a:r>
            <a:r>
              <a:rPr lang="en-US" sz="1600">
                <a:solidFill>
                  <a:srgbClr val="FFFFFF"/>
                </a:solidFill>
                <a:ea typeface="+mn-lt"/>
                <a:cs typeface="+mn-lt"/>
              </a:rPr>
              <a:t>, a 5x increase in number of visits from our first linkage attempts.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3" name="Text 67">
            <a:extLst>
              <a:ext uri="{FF2B5EF4-FFF2-40B4-BE49-F238E27FC236}">
                <a16:creationId xmlns:a16="http://schemas.microsoft.com/office/drawing/2014/main" id="{83B876E3-07A7-7A5B-D200-24F15FFE1A18}"/>
              </a:ext>
            </a:extLst>
          </p:cNvPr>
          <p:cNvSpPr/>
          <p:nvPr/>
        </p:nvSpPr>
        <p:spPr>
          <a:xfrm>
            <a:off x="473830" y="6153150"/>
            <a:ext cx="6377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i="1" err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Mayuge</a:t>
            </a:r>
            <a:r>
              <a:rPr lang="en-US" sz="1600" i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 HC IV has high missingness in client contact (66%), while </a:t>
            </a:r>
            <a:r>
              <a:rPr lang="en-US" sz="1600" i="1" err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Buluba</a:t>
            </a:r>
            <a:r>
              <a:rPr lang="en-US" sz="1600" i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 has higher missingness in client number (18%).</a:t>
            </a:r>
            <a:endParaRPr lang="en-US" sz="1600">
              <a:ea typeface="Calibri"/>
              <a:cs typeface="Calibri"/>
            </a:endParaRPr>
          </a:p>
        </p:txBody>
      </p:sp>
      <p:pic>
        <p:nvPicPr>
          <p:cNvPr id="12" name="Picture 11" descr="A graph of a number of days&#10;&#10;AI-generated content may be incorrect.">
            <a:extLst>
              <a:ext uri="{FF2B5EF4-FFF2-40B4-BE49-F238E27FC236}">
                <a16:creationId xmlns:a16="http://schemas.microsoft.com/office/drawing/2014/main" id="{9FC11AE7-6744-8035-5C3F-31D79202B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472" y="2907183"/>
            <a:ext cx="4217002" cy="2928037"/>
          </a:xfrm>
          <a:prstGeom prst="rect">
            <a:avLst/>
          </a:prstGeom>
        </p:spPr>
      </p:pic>
      <p:pic>
        <p:nvPicPr>
          <p:cNvPr id="14" name="Picture 13" descr="A graph with a bar graph&#10;&#10;AI-generated content may be incorrect.">
            <a:extLst>
              <a:ext uri="{FF2B5EF4-FFF2-40B4-BE49-F238E27FC236}">
                <a16:creationId xmlns:a16="http://schemas.microsoft.com/office/drawing/2014/main" id="{B518E25E-BA79-DC12-B655-98C968339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127" y="2907184"/>
            <a:ext cx="5927125" cy="3103090"/>
          </a:xfrm>
          <a:prstGeom prst="rect">
            <a:avLst/>
          </a:prstGeom>
        </p:spPr>
      </p:pic>
      <p:sp>
        <p:nvSpPr>
          <p:cNvPr id="16" name="Text 67">
            <a:extLst>
              <a:ext uri="{FF2B5EF4-FFF2-40B4-BE49-F238E27FC236}">
                <a16:creationId xmlns:a16="http://schemas.microsoft.com/office/drawing/2014/main" id="{B1E7E901-78C9-95CB-28C8-7EF03AC66FAB}"/>
              </a:ext>
            </a:extLst>
          </p:cNvPr>
          <p:cNvSpPr/>
          <p:nvPr/>
        </p:nvSpPr>
        <p:spPr>
          <a:xfrm>
            <a:off x="7003089" y="5848350"/>
            <a:ext cx="45030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i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Significant discrepancy in the entered expected delivery date and the expected delivery date based on gestational age</a:t>
            </a:r>
            <a:endParaRPr lang="en-US" sz="16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70650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85FADB-E603-80ED-118B-E58835DBE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8070F9-169E-D06C-9681-1ED4A8CD0119}"/>
              </a:ext>
            </a:extLst>
          </p:cNvPr>
          <p:cNvSpPr/>
          <p:nvPr/>
        </p:nvSpPr>
        <p:spPr>
          <a:xfrm>
            <a:off x="548640" y="41148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1</a:t>
            </a:r>
            <a:endParaRPr lang="en-US"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9E5B98A-899A-4255-A89D-AB73AD946795}"/>
              </a:ext>
            </a:extLst>
          </p:cNvPr>
          <p:cNvSpPr/>
          <p:nvPr/>
        </p:nvSpPr>
        <p:spPr>
          <a:xfrm>
            <a:off x="548640" y="7315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0F3B5C"/>
                </a:solidFill>
                <a:latin typeface="Georgia"/>
                <a:ea typeface="Georgia" pitchFamily="34" charset="-122"/>
                <a:cs typeface="Georgia" pitchFamily="34" charset="-120"/>
              </a:rPr>
              <a:t>First attempt — fewer variables</a:t>
            </a:r>
            <a:endParaRPr lang="en-US" sz="28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9D7EC5-5E02-1F34-4E47-084A3128F025}"/>
              </a:ext>
            </a:extLst>
          </p:cNvPr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Including the variables that gave us the best success on the </a:t>
            </a:r>
            <a:r>
              <a:rPr lang="en-US" sz="1600" i="1" err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Buluba</a:t>
            </a:r>
            <a:r>
              <a:rPr lang="en-US" sz="1600" i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 data, using the 85% match threshold.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3A74D52-D482-106C-F5DA-368F1C402EBE}"/>
              </a:ext>
            </a:extLst>
          </p:cNvPr>
          <p:cNvSpPr/>
          <p:nvPr/>
        </p:nvSpPr>
        <p:spPr>
          <a:xfrm>
            <a:off x="548640" y="2286000"/>
            <a:ext cx="5394960" cy="393192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8C29FD9-C5E9-770C-B1FA-0E5A0B9152AE}"/>
              </a:ext>
            </a:extLst>
          </p:cNvPr>
          <p:cNvSpPr/>
          <p:nvPr/>
        </p:nvSpPr>
        <p:spPr>
          <a:xfrm>
            <a:off x="822960" y="2514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807E708-D2AB-4CE8-CCA6-757AD0F087A5}"/>
              </a:ext>
            </a:extLst>
          </p:cNvPr>
          <p:cNvSpPr/>
          <p:nvPr/>
        </p:nvSpPr>
        <p:spPr>
          <a:xfrm>
            <a:off x="822960" y="3104769"/>
            <a:ext cx="164592" cy="164592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E75B1F1-9AD3-6077-657C-24E7DBCA6403}"/>
              </a:ext>
            </a:extLst>
          </p:cNvPr>
          <p:cNvSpPr/>
          <p:nvPr/>
        </p:nvSpPr>
        <p:spPr>
          <a:xfrm>
            <a:off x="1051560" y="3004185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Used 7 matching variables: </a:t>
            </a:r>
            <a:r>
              <a:rPr lang="en-US" sz="160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client_no</a:t>
            </a: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names, contact, location, </a:t>
            </a:r>
            <a:r>
              <a:rPr lang="en-US" sz="160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est_birth_year</a:t>
            </a: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 </a:t>
            </a:r>
            <a:r>
              <a:rPr lang="en-US" sz="160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numeric_delivery_date</a:t>
            </a:r>
            <a:endParaRPr lang="en-US" err="1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00136B8-3239-F129-A583-4464E55BCF7B}"/>
              </a:ext>
            </a:extLst>
          </p:cNvPr>
          <p:cNvSpPr/>
          <p:nvPr/>
        </p:nvSpPr>
        <p:spPr>
          <a:xfrm>
            <a:off x="822960" y="3817239"/>
            <a:ext cx="164592" cy="164592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B778CC9-B7F2-95DF-3F70-79D12169ADCD}"/>
              </a:ext>
            </a:extLst>
          </p:cNvPr>
          <p:cNvSpPr/>
          <p:nvPr/>
        </p:nvSpPr>
        <p:spPr>
          <a:xfrm>
            <a:off x="1061085" y="366903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Set match threshold to 0.85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4D0A1C0-25D8-43F7-DD41-9192937469AD}"/>
              </a:ext>
            </a:extLst>
          </p:cNvPr>
          <p:cNvSpPr/>
          <p:nvPr/>
        </p:nvSpPr>
        <p:spPr>
          <a:xfrm>
            <a:off x="822960" y="4348734"/>
            <a:ext cx="164592" cy="164592"/>
          </a:xfrm>
          <a:prstGeom prst="ellipse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5790410-4D68-7A9D-572C-8B71E22361A9}"/>
              </a:ext>
            </a:extLst>
          </p:cNvPr>
          <p:cNvSpPr/>
          <p:nvPr/>
        </p:nvSpPr>
        <p:spPr>
          <a:xfrm>
            <a:off x="1051560" y="424815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patient IDs by grouping all linked record-pairs (graph components)</a:t>
            </a:r>
            <a:endParaRPr lang="en-US" sz="16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31386C5-0610-3E41-0DA2-9758B912000F}"/>
              </a:ext>
            </a:extLst>
          </p:cNvPr>
          <p:cNvSpPr/>
          <p:nvPr/>
        </p:nvSpPr>
        <p:spPr>
          <a:xfrm>
            <a:off x="6217920" y="2286000"/>
            <a:ext cx="5394960" cy="3931920"/>
          </a:xfrm>
          <a:prstGeom prst="rect">
            <a:avLst/>
          </a:prstGeom>
          <a:solidFill>
            <a:srgbClr val="0F3B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E9DCEF7-D37E-3C70-A44B-BD37A9679C68}"/>
              </a:ext>
            </a:extLst>
          </p:cNvPr>
          <p:cNvSpPr/>
          <p:nvPr/>
        </p:nvSpPr>
        <p:spPr>
          <a:xfrm>
            <a:off x="6492240" y="2514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GOT</a:t>
            </a:r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E4604CE-C680-88C4-371E-C30D022B67B6}"/>
              </a:ext>
            </a:extLst>
          </p:cNvPr>
          <p:cNvSpPr/>
          <p:nvPr/>
        </p:nvSpPr>
        <p:spPr>
          <a:xfrm>
            <a:off x="649224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PATIENTS</a:t>
            </a:r>
            <a:endParaRPr lang="en-US" sz="16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D4F2B82-E520-2840-BA10-9BE380EC7929}"/>
              </a:ext>
            </a:extLst>
          </p:cNvPr>
          <p:cNvSpPr/>
          <p:nvPr/>
        </p:nvSpPr>
        <p:spPr>
          <a:xfrm>
            <a:off x="649224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Georgia"/>
              </a:rPr>
              <a:t>9,497</a:t>
            </a:r>
            <a:endParaRPr lang="en-US" sz="4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65BB009-4D8B-32E6-E85B-B6C2FA47882F}"/>
              </a:ext>
            </a:extLst>
          </p:cNvPr>
          <p:cNvSpPr/>
          <p:nvPr/>
        </p:nvSpPr>
        <p:spPr>
          <a:xfrm>
            <a:off x="896112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CLUSTER</a:t>
            </a:r>
            <a:endParaRPr lang="en-US" sz="16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E87ADC2-3F9D-A2F2-1DE8-82574DBA56EE}"/>
              </a:ext>
            </a:extLst>
          </p:cNvPr>
          <p:cNvSpPr/>
          <p:nvPr/>
        </p:nvSpPr>
        <p:spPr>
          <a:xfrm>
            <a:off x="896112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18F01"/>
                </a:solidFill>
                <a:latin typeface="Georgia"/>
              </a:rPr>
              <a:t>11</a:t>
            </a:r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15C5CD5-2EFD-12E4-6149-BDB14FB0C841}"/>
              </a:ext>
            </a:extLst>
          </p:cNvPr>
          <p:cNvSpPr/>
          <p:nvPr/>
        </p:nvSpPr>
        <p:spPr>
          <a:xfrm>
            <a:off x="6492240" y="50292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Plausible value for a maximum number of appointments for a single patient</a:t>
            </a:r>
            <a:endParaRPr lang="en-US"/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5B93188B-1667-CB14-0F3E-C759BEEED9B4}"/>
              </a:ext>
            </a:extLst>
          </p:cNvPr>
          <p:cNvSpPr/>
          <p:nvPr/>
        </p:nvSpPr>
        <p:spPr>
          <a:xfrm>
            <a:off x="6492240" y="4480560"/>
            <a:ext cx="4846320" cy="41148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086B4C26-31AE-2754-6F3C-D1E0D34EB06D}"/>
              </a:ext>
            </a:extLst>
          </p:cNvPr>
          <p:cNvSpPr/>
          <p:nvPr/>
        </p:nvSpPr>
        <p:spPr>
          <a:xfrm>
            <a:off x="6490181" y="4478501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Plausible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2789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FF0620-7C72-5544-6995-B2DF9CFDA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737B6A-3B45-0383-BE4C-65908F778E00}"/>
              </a:ext>
            </a:extLst>
          </p:cNvPr>
          <p:cNvSpPr/>
          <p:nvPr/>
        </p:nvSpPr>
        <p:spPr>
          <a:xfrm>
            <a:off x="548640" y="41148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E19D3B4-E81F-AE9F-3CD2-E24BE3B127A2}"/>
              </a:ext>
            </a:extLst>
          </p:cNvPr>
          <p:cNvSpPr/>
          <p:nvPr/>
        </p:nvSpPr>
        <p:spPr>
          <a:xfrm>
            <a:off x="548640" y="7315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3B5C"/>
                </a:solidFill>
                <a:latin typeface="Georgia"/>
                <a:ea typeface="Georgia" pitchFamily="34" charset="-122"/>
                <a:cs typeface="Georgia" pitchFamily="34" charset="-120"/>
              </a:rPr>
              <a:t>Validation</a:t>
            </a:r>
            <a:endParaRPr lang="en-US" sz="2800" b="1">
              <a:solidFill>
                <a:srgbClr val="0F3B5C"/>
              </a:solidFill>
              <a:latin typeface="Georgia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BCCBD4-5534-80E3-12D1-1E98AE5CC463}"/>
              </a:ext>
            </a:extLst>
          </p:cNvPr>
          <p:cNvSpPr/>
          <p:nvPr/>
        </p:nvSpPr>
        <p:spPr>
          <a:xfrm>
            <a:off x="548640" y="1710690"/>
            <a:ext cx="5543550" cy="57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With the new, larger dataset, client number 189 now splits into 8 patients, matching manual review:</a:t>
            </a: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990E042E-6862-1C66-44C6-3CF1AC446AD1}"/>
              </a:ext>
            </a:extLst>
          </p:cNvPr>
          <p:cNvSpPr/>
          <p:nvPr/>
        </p:nvSpPr>
        <p:spPr>
          <a:xfrm>
            <a:off x="577215" y="5852160"/>
            <a:ext cx="5434965" cy="45720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A548865-16CB-2E75-CD24-B95B80C55A6D}"/>
              </a:ext>
            </a:extLst>
          </p:cNvPr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  Eight distinct women, correctly separated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46" name="Shape 15">
            <a:extLst>
              <a:ext uri="{FF2B5EF4-FFF2-40B4-BE49-F238E27FC236}">
                <a16:creationId xmlns:a16="http://schemas.microsoft.com/office/drawing/2014/main" id="{0502385A-00CB-A16D-2975-EC60214E5AB7}"/>
              </a:ext>
            </a:extLst>
          </p:cNvPr>
          <p:cNvSpPr/>
          <p:nvPr/>
        </p:nvSpPr>
        <p:spPr>
          <a:xfrm>
            <a:off x="520064" y="2308859"/>
            <a:ext cx="5486400" cy="168021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16">
            <a:extLst>
              <a:ext uri="{FF2B5EF4-FFF2-40B4-BE49-F238E27FC236}">
                <a16:creationId xmlns:a16="http://schemas.microsoft.com/office/drawing/2014/main" id="{143757BF-874B-3ADC-B7CE-A29E19678688}"/>
              </a:ext>
            </a:extLst>
          </p:cNvPr>
          <p:cNvSpPr/>
          <p:nvPr/>
        </p:nvSpPr>
        <p:spPr>
          <a:xfrm>
            <a:off x="520064" y="2308859"/>
            <a:ext cx="91440" cy="1680210"/>
          </a:xfrm>
          <a:prstGeom prst="rect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3">
            <a:extLst>
              <a:ext uri="{FF2B5EF4-FFF2-40B4-BE49-F238E27FC236}">
                <a16:creationId xmlns:a16="http://schemas.microsoft.com/office/drawing/2014/main" id="{EC605B4E-C9CA-4ECD-A975-988A50D43FF7}"/>
              </a:ext>
            </a:extLst>
          </p:cNvPr>
          <p:cNvSpPr/>
          <p:nvPr/>
        </p:nvSpPr>
        <p:spPr>
          <a:xfrm>
            <a:off x="784859" y="230505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kern="0" spc="4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BULUBA HOSPITAL</a:t>
            </a:r>
            <a:endParaRPr lang="en-US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DA9B6835-979D-FF1E-33D5-0F4FA41B7D3F}"/>
              </a:ext>
            </a:extLst>
          </p:cNvPr>
          <p:cNvSpPr/>
          <p:nvPr/>
        </p:nvSpPr>
        <p:spPr>
          <a:xfrm>
            <a:off x="2183130" y="2636519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>
                <a:solidFill>
                  <a:srgbClr val="0F3B5C"/>
                </a:solidFill>
                <a:latin typeface="Georgia"/>
              </a:rPr>
              <a:t>4 patients</a:t>
            </a:r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DAEC3CC-CCB0-3866-8766-50F230B0C3A5}"/>
              </a:ext>
            </a:extLst>
          </p:cNvPr>
          <p:cNvSpPr txBox="1"/>
          <p:nvPr/>
        </p:nvSpPr>
        <p:spPr>
          <a:xfrm>
            <a:off x="769980" y="3281233"/>
            <a:ext cx="256428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ea typeface="Calibri" panose="020F0502020204030204"/>
                <a:cs typeface="Calibri" panose="020F0502020204030204"/>
              </a:rPr>
              <a:t>Patient A: 1 visit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Calibri" panose="020F0502020204030204"/>
                <a:cs typeface="Calibri" panose="020F0502020204030204"/>
              </a:rPr>
              <a:t>Patient B: 5 visits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B3EA99E-3E32-135B-0BC5-384DB393109B}"/>
              </a:ext>
            </a:extLst>
          </p:cNvPr>
          <p:cNvGrpSpPr/>
          <p:nvPr/>
        </p:nvGrpSpPr>
        <p:grpSpPr>
          <a:xfrm>
            <a:off x="520064" y="4086225"/>
            <a:ext cx="5486401" cy="1684020"/>
            <a:chOff x="520064" y="2400300"/>
            <a:chExt cx="5486401" cy="1684020"/>
          </a:xfrm>
        </p:grpSpPr>
        <p:sp>
          <p:nvSpPr>
            <p:cNvPr id="35" name="Shape 15">
              <a:extLst>
                <a:ext uri="{FF2B5EF4-FFF2-40B4-BE49-F238E27FC236}">
                  <a16:creationId xmlns:a16="http://schemas.microsoft.com/office/drawing/2014/main" id="{F679F114-3C0A-EB2F-F9B6-6C6B2B213FD5}"/>
                </a:ext>
              </a:extLst>
            </p:cNvPr>
            <p:cNvSpPr/>
            <p:nvPr/>
          </p:nvSpPr>
          <p:spPr>
            <a:xfrm>
              <a:off x="548640" y="2404110"/>
              <a:ext cx="5457825" cy="168021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E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 3">
              <a:extLst>
                <a:ext uri="{FF2B5EF4-FFF2-40B4-BE49-F238E27FC236}">
                  <a16:creationId xmlns:a16="http://schemas.microsoft.com/office/drawing/2014/main" id="{9281C5AA-88F8-404A-5950-9670AA9D5E7A}"/>
                </a:ext>
              </a:extLst>
            </p:cNvPr>
            <p:cNvSpPr/>
            <p:nvPr/>
          </p:nvSpPr>
          <p:spPr>
            <a:xfrm>
              <a:off x="775335" y="2400300"/>
              <a:ext cx="30175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kern="0" spc="400">
                  <a:solidFill>
                    <a:srgbClr val="1C7293"/>
                  </a:solidFill>
                  <a:latin typeface="Calibri"/>
                  <a:ea typeface="Calibri"/>
                  <a:cs typeface="Calibri"/>
                </a:rPr>
                <a:t>MAYUGE HC IV</a:t>
              </a:r>
              <a:endParaRPr lang="en-US"/>
            </a:p>
          </p:txBody>
        </p:sp>
        <p:sp>
          <p:nvSpPr>
            <p:cNvPr id="45" name="Text 13">
              <a:extLst>
                <a:ext uri="{FF2B5EF4-FFF2-40B4-BE49-F238E27FC236}">
                  <a16:creationId xmlns:a16="http://schemas.microsoft.com/office/drawing/2014/main" id="{C5763DCF-3BA1-31B9-3B30-C0D703E3DC37}"/>
                </a:ext>
              </a:extLst>
            </p:cNvPr>
            <p:cNvSpPr/>
            <p:nvPr/>
          </p:nvSpPr>
          <p:spPr>
            <a:xfrm>
              <a:off x="2173605" y="2731770"/>
              <a:ext cx="22860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800" b="1">
                  <a:solidFill>
                    <a:srgbClr val="0F3B5C"/>
                  </a:solidFill>
                  <a:latin typeface="Georgia"/>
                </a:rPr>
                <a:t>4 patients</a:t>
              </a:r>
              <a:endParaRPr lang="en-US"/>
            </a:p>
          </p:txBody>
        </p:sp>
        <p:sp>
          <p:nvSpPr>
            <p:cNvPr id="51" name="Shape 16">
              <a:extLst>
                <a:ext uri="{FF2B5EF4-FFF2-40B4-BE49-F238E27FC236}">
                  <a16:creationId xmlns:a16="http://schemas.microsoft.com/office/drawing/2014/main" id="{2B14C142-EB60-DE98-F6CD-17BC54604EA0}"/>
                </a:ext>
              </a:extLst>
            </p:cNvPr>
            <p:cNvSpPr/>
            <p:nvPr/>
          </p:nvSpPr>
          <p:spPr>
            <a:xfrm>
              <a:off x="520064" y="2404109"/>
              <a:ext cx="91440" cy="1680210"/>
            </a:xfrm>
            <a:prstGeom prst="rect">
              <a:avLst/>
            </a:prstGeom>
            <a:solidFill>
              <a:srgbClr val="E36414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5122C05C-0631-D15F-2317-E86581AB125D}"/>
              </a:ext>
            </a:extLst>
          </p:cNvPr>
          <p:cNvSpPr txBox="1"/>
          <p:nvPr/>
        </p:nvSpPr>
        <p:spPr>
          <a:xfrm>
            <a:off x="3265530" y="3281232"/>
            <a:ext cx="256428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ea typeface="Calibri" panose="020F0502020204030204"/>
                <a:cs typeface="Calibri" panose="020F0502020204030204"/>
              </a:rPr>
              <a:t>Patient C: 1 visit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Calibri" panose="020F0502020204030204"/>
                <a:cs typeface="Calibri" panose="020F0502020204030204"/>
              </a:rPr>
              <a:t>Patient D: 3 visits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B2E872A-B183-E7F7-33AF-16C3E20958D0}"/>
              </a:ext>
            </a:extLst>
          </p:cNvPr>
          <p:cNvSpPr txBox="1"/>
          <p:nvPr/>
        </p:nvSpPr>
        <p:spPr>
          <a:xfrm>
            <a:off x="836655" y="5100507"/>
            <a:ext cx="256428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ea typeface="Calibri" panose="020F0502020204030204"/>
                <a:cs typeface="Calibri" panose="020F0502020204030204"/>
              </a:rPr>
              <a:t>Patient E: 1 visit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Calibri" panose="020F0502020204030204"/>
                <a:cs typeface="Calibri" panose="020F0502020204030204"/>
              </a:rPr>
              <a:t>Patient F: 2 visits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890B23C-E92D-FB71-332A-B55B916CD7B3}"/>
              </a:ext>
            </a:extLst>
          </p:cNvPr>
          <p:cNvSpPr txBox="1"/>
          <p:nvPr/>
        </p:nvSpPr>
        <p:spPr>
          <a:xfrm>
            <a:off x="3332205" y="5100507"/>
            <a:ext cx="256428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ea typeface="Calibri" panose="020F0502020204030204"/>
                <a:cs typeface="Calibri" panose="020F0502020204030204"/>
              </a:rPr>
              <a:t>Patient G: 1 visit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Calibri" panose="020F0502020204030204"/>
                <a:cs typeface="Calibri" panose="020F0502020204030204"/>
              </a:rPr>
              <a:t>Patient H: 4 visits</a:t>
            </a:r>
          </a:p>
        </p:txBody>
      </p:sp>
      <p:sp>
        <p:nvSpPr>
          <p:cNvPr id="56" name="Text 2">
            <a:extLst>
              <a:ext uri="{FF2B5EF4-FFF2-40B4-BE49-F238E27FC236}">
                <a16:creationId xmlns:a16="http://schemas.microsoft.com/office/drawing/2014/main" id="{61EBF69A-F156-2D04-23AF-1C652B90D852}"/>
              </a:ext>
            </a:extLst>
          </p:cNvPr>
          <p:cNvSpPr/>
          <p:nvPr/>
        </p:nvSpPr>
        <p:spPr>
          <a:xfrm>
            <a:off x="6225539" y="1720215"/>
            <a:ext cx="5419725" cy="584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But we have the same problem with the individual with 2 appointments still being misidentified as 2 different patients:</a:t>
            </a:r>
          </a:p>
        </p:txBody>
      </p:sp>
      <p:sp>
        <p:nvSpPr>
          <p:cNvPr id="58" name="Shape 27">
            <a:extLst>
              <a:ext uri="{FF2B5EF4-FFF2-40B4-BE49-F238E27FC236}">
                <a16:creationId xmlns:a16="http://schemas.microsoft.com/office/drawing/2014/main" id="{046B509A-7907-81AD-4590-C62585263D88}"/>
              </a:ext>
            </a:extLst>
          </p:cNvPr>
          <p:cNvSpPr/>
          <p:nvPr/>
        </p:nvSpPr>
        <p:spPr>
          <a:xfrm>
            <a:off x="6225540" y="5852160"/>
            <a:ext cx="5387340" cy="45720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4322ADEF-2418-A9AF-B4CC-B440DE9FAB10}"/>
              </a:ext>
            </a:extLst>
          </p:cNvPr>
          <p:cNvSpPr/>
          <p:nvPr/>
        </p:nvSpPr>
        <p:spPr>
          <a:xfrm>
            <a:off x="6339840" y="5852160"/>
            <a:ext cx="51682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FFFFFF"/>
                </a:solidFill>
                <a:ea typeface="+mn-lt"/>
                <a:cs typeface="+mn-lt"/>
              </a:rPr>
              <a:t>✗</a:t>
            </a:r>
            <a:r>
              <a:rPr lang="en-US" sz="1600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Likely incorrectly separating appointments belonging to the same person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62" name="Text 5">
            <a:extLst>
              <a:ext uri="{FF2B5EF4-FFF2-40B4-BE49-F238E27FC236}">
                <a16:creationId xmlns:a16="http://schemas.microsoft.com/office/drawing/2014/main" id="{8D478629-03D0-1C3A-B85B-576406400D11}"/>
              </a:ext>
            </a:extLst>
          </p:cNvPr>
          <p:cNvSpPr/>
          <p:nvPr/>
        </p:nvSpPr>
        <p:spPr>
          <a:xfrm>
            <a:off x="73152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#387</a:t>
            </a:r>
            <a:endParaRPr lang="en-US" sz="1100"/>
          </a:p>
        </p:txBody>
      </p:sp>
      <p:sp>
        <p:nvSpPr>
          <p:cNvPr id="64" name="Text 11">
            <a:extLst>
              <a:ext uri="{FF2B5EF4-FFF2-40B4-BE49-F238E27FC236}">
                <a16:creationId xmlns:a16="http://schemas.microsoft.com/office/drawing/2014/main" id="{4BF6D361-C589-4EF7-A584-522341923BF6}"/>
              </a:ext>
            </a:extLst>
          </p:cNvPr>
          <p:cNvSpPr/>
          <p:nvPr/>
        </p:nvSpPr>
        <p:spPr>
          <a:xfrm>
            <a:off x="356616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#341</a:t>
            </a:r>
            <a:endParaRPr lang="en-US" sz="1100"/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381F3050-A470-C716-A584-F208B2511D82}"/>
              </a:ext>
            </a:extLst>
          </p:cNvPr>
          <p:cNvSpPr/>
          <p:nvPr/>
        </p:nvSpPr>
        <p:spPr>
          <a:xfrm>
            <a:off x="640080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#201</a:t>
            </a:r>
            <a:endParaRPr lang="en-US" sz="1100"/>
          </a:p>
        </p:txBody>
      </p:sp>
      <p:sp>
        <p:nvSpPr>
          <p:cNvPr id="68" name="Text 23">
            <a:extLst>
              <a:ext uri="{FF2B5EF4-FFF2-40B4-BE49-F238E27FC236}">
                <a16:creationId xmlns:a16="http://schemas.microsoft.com/office/drawing/2014/main" id="{C9476A58-53AF-1D98-6C1D-1AA234027A7F}"/>
              </a:ext>
            </a:extLst>
          </p:cNvPr>
          <p:cNvSpPr/>
          <p:nvPr/>
        </p:nvSpPr>
        <p:spPr>
          <a:xfrm>
            <a:off x="923544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#41</a:t>
            </a:r>
            <a:endParaRPr lang="en-US" sz="1100"/>
          </a:p>
        </p:txBody>
      </p:sp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D85E761E-307D-F610-1CAE-EBE52B210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048122"/>
              </p:ext>
            </p:extLst>
          </p:nvPr>
        </p:nvGraphicFramePr>
        <p:xfrm>
          <a:off x="6207314" y="3282284"/>
          <a:ext cx="5436907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701">
                  <a:extLst>
                    <a:ext uri="{9D8B030D-6E8A-4147-A177-3AD203B41FA5}">
                      <a16:colId xmlns:a16="http://schemas.microsoft.com/office/drawing/2014/main" val="1947565001"/>
                    </a:ext>
                  </a:extLst>
                </a:gridCol>
                <a:gridCol w="776701">
                  <a:extLst>
                    <a:ext uri="{9D8B030D-6E8A-4147-A177-3AD203B41FA5}">
                      <a16:colId xmlns:a16="http://schemas.microsoft.com/office/drawing/2014/main" val="3424849880"/>
                    </a:ext>
                  </a:extLst>
                </a:gridCol>
                <a:gridCol w="776701">
                  <a:extLst>
                    <a:ext uri="{9D8B030D-6E8A-4147-A177-3AD203B41FA5}">
                      <a16:colId xmlns:a16="http://schemas.microsoft.com/office/drawing/2014/main" val="4038653119"/>
                    </a:ext>
                  </a:extLst>
                </a:gridCol>
                <a:gridCol w="776701">
                  <a:extLst>
                    <a:ext uri="{9D8B030D-6E8A-4147-A177-3AD203B41FA5}">
                      <a16:colId xmlns:a16="http://schemas.microsoft.com/office/drawing/2014/main" val="3643332653"/>
                    </a:ext>
                  </a:extLst>
                </a:gridCol>
                <a:gridCol w="776701">
                  <a:extLst>
                    <a:ext uri="{9D8B030D-6E8A-4147-A177-3AD203B41FA5}">
                      <a16:colId xmlns:a16="http://schemas.microsoft.com/office/drawing/2014/main" val="677363947"/>
                    </a:ext>
                  </a:extLst>
                </a:gridCol>
                <a:gridCol w="776701">
                  <a:extLst>
                    <a:ext uri="{9D8B030D-6E8A-4147-A177-3AD203B41FA5}">
                      <a16:colId xmlns:a16="http://schemas.microsoft.com/office/drawing/2014/main" val="2978983597"/>
                    </a:ext>
                  </a:extLst>
                </a:gridCol>
                <a:gridCol w="776701">
                  <a:extLst>
                    <a:ext uri="{9D8B030D-6E8A-4147-A177-3AD203B41FA5}">
                      <a16:colId xmlns:a16="http://schemas.microsoft.com/office/drawing/2014/main" val="784420534"/>
                    </a:ext>
                  </a:extLst>
                </a:gridCol>
              </a:tblGrid>
              <a:tr h="479237">
                <a:tc>
                  <a:txBody>
                    <a:bodyPr/>
                    <a:lstStyle/>
                    <a:p>
                      <a:r>
                        <a:rPr lang="en-US" sz="1200"/>
                        <a:t>Assigned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Client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Estimated birth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Height &amp; parity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Delivery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Parish &amp; village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322176"/>
                  </a:ext>
                </a:extLst>
              </a:tr>
              <a:tr h="383390">
                <a:tc>
                  <a:txBody>
                    <a:bodyPr/>
                    <a:lstStyle/>
                    <a:p>
                      <a:r>
                        <a:rPr lang="en-US" sz="1200"/>
                        <a:t>Patient #8733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Lukone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Lukone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009520"/>
                  </a:ext>
                </a:extLst>
              </a:tr>
              <a:tr h="383390">
                <a:tc>
                  <a:txBody>
                    <a:bodyPr/>
                    <a:lstStyle/>
                    <a:p>
                      <a:r>
                        <a:rPr lang="en-US" sz="1200"/>
                        <a:t>Patient #7064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Katonte</a:t>
                      </a:r>
                      <a:r>
                        <a:rPr lang="en-US" sz="1200"/>
                        <a:t>, </a:t>
                      </a:r>
                      <a:r>
                        <a:rPr lang="en-US" sz="1200" err="1"/>
                        <a:t>Katonte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08573"/>
                  </a:ext>
                </a:extLst>
              </a:tr>
            </a:tbl>
          </a:graphicData>
        </a:graphic>
      </p:graphicFrame>
      <p:sp>
        <p:nvSpPr>
          <p:cNvPr id="76" name="Shape 2">
            <a:extLst>
              <a:ext uri="{FF2B5EF4-FFF2-40B4-BE49-F238E27FC236}">
                <a16:creationId xmlns:a16="http://schemas.microsoft.com/office/drawing/2014/main" id="{35B8E223-0AA0-D76E-9AA9-3675B4C1F181}"/>
              </a:ext>
            </a:extLst>
          </p:cNvPr>
          <p:cNvSpPr/>
          <p:nvPr/>
        </p:nvSpPr>
        <p:spPr>
          <a:xfrm flipH="1">
            <a:off x="9349740" y="3981811"/>
            <a:ext cx="663495" cy="8086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lIns="91440" tIns="45720" rIns="91440" bIns="4572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Match</a:t>
            </a:r>
          </a:p>
        </p:txBody>
      </p:sp>
      <p:sp>
        <p:nvSpPr>
          <p:cNvPr id="78" name="Shape 2">
            <a:extLst>
              <a:ext uri="{FF2B5EF4-FFF2-40B4-BE49-F238E27FC236}">
                <a16:creationId xmlns:a16="http://schemas.microsoft.com/office/drawing/2014/main" id="{32B741C7-3F30-314B-EF9F-A962187F9B3D}"/>
              </a:ext>
            </a:extLst>
          </p:cNvPr>
          <p:cNvSpPr/>
          <p:nvPr/>
        </p:nvSpPr>
        <p:spPr>
          <a:xfrm>
            <a:off x="10147780" y="3981811"/>
            <a:ext cx="663146" cy="8086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lIns="91440" tIns="45720" rIns="91440" bIns="4572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25 days apart</a:t>
            </a:r>
          </a:p>
        </p:txBody>
      </p:sp>
      <p:sp>
        <p:nvSpPr>
          <p:cNvPr id="79" name="Shape 2">
            <a:extLst>
              <a:ext uri="{FF2B5EF4-FFF2-40B4-BE49-F238E27FC236}">
                <a16:creationId xmlns:a16="http://schemas.microsoft.com/office/drawing/2014/main" id="{CB8D064D-8964-78FA-EF69-F1FDA2B97D42}"/>
              </a:ext>
            </a:extLst>
          </p:cNvPr>
          <p:cNvSpPr/>
          <p:nvPr/>
        </p:nvSpPr>
        <p:spPr>
          <a:xfrm flipH="1">
            <a:off x="8597265" y="3981810"/>
            <a:ext cx="663495" cy="8086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lIns="91440" tIns="45720" rIns="91440" bIns="4572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Match</a:t>
            </a:r>
          </a:p>
        </p:txBody>
      </p:sp>
      <p:sp>
        <p:nvSpPr>
          <p:cNvPr id="80" name="Shape 2">
            <a:extLst>
              <a:ext uri="{FF2B5EF4-FFF2-40B4-BE49-F238E27FC236}">
                <a16:creationId xmlns:a16="http://schemas.microsoft.com/office/drawing/2014/main" id="{2858162C-7527-98D8-608D-B14C2949499F}"/>
              </a:ext>
            </a:extLst>
          </p:cNvPr>
          <p:cNvSpPr/>
          <p:nvPr/>
        </p:nvSpPr>
        <p:spPr>
          <a:xfrm flipH="1">
            <a:off x="7816215" y="3981810"/>
            <a:ext cx="663495" cy="8086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 lIns="91440" tIns="45720" rIns="91440" bIns="4572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Off by 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709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>
                <a:solidFill>
                  <a:srgbClr val="F18F01"/>
                </a:solidFill>
                <a:latin typeface="Calibri"/>
                <a:ea typeface="Calibri"/>
                <a:cs typeface="Calibri"/>
              </a:rPr>
              <a:t>PART 03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descriptive statistics</a:t>
            </a:r>
            <a:endParaRPr lang="en-US" sz="480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Who are the 9,497 women we now have in the cohort?</a:t>
            </a:r>
            <a:endParaRPr lang="en-US" sz="17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" y="4846320"/>
            <a:ext cx="731520" cy="54864"/>
          </a:xfrm>
          <a:prstGeom prst="rect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12">
            <a:extLst>
              <a:ext uri="{FF2B5EF4-FFF2-40B4-BE49-F238E27FC236}">
                <a16:creationId xmlns:a16="http://schemas.microsoft.com/office/drawing/2014/main" id="{389C0053-B87F-BE39-987E-FB59879D9D19}"/>
              </a:ext>
            </a:extLst>
          </p:cNvPr>
          <p:cNvSpPr/>
          <p:nvPr/>
        </p:nvSpPr>
        <p:spPr>
          <a:xfrm>
            <a:off x="5501640" y="1918591"/>
            <a:ext cx="6116594" cy="4522572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48640" y="41148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Maternal age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9692640" y="502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ILLUSTRATIVE — VERIFY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286000" cy="137160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AGE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3017520" y="1920240"/>
            <a:ext cx="2286000" cy="137160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1752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3017520" y="2331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20–29</a:t>
            </a:r>
            <a:endParaRPr lang="en-US" sz="2600"/>
          </a:p>
        </p:txBody>
      </p:sp>
      <p:sp>
        <p:nvSpPr>
          <p:cNvPr id="13" name="Text 11"/>
          <p:cNvSpPr/>
          <p:nvPr/>
        </p:nvSpPr>
        <p:spPr>
          <a:xfrm>
            <a:off x="301752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2286000" cy="137160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(SD)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F3B5C"/>
                </a:solidFill>
                <a:latin typeface="Georgia"/>
              </a:rPr>
              <a:t>25.0</a:t>
            </a:r>
            <a:endParaRPr lang="en-US" sz="260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(5.9)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3017520" y="3566160"/>
            <a:ext cx="2286000" cy="137160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01752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3017520" y="3977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F3B5C"/>
                </a:solidFill>
                <a:latin typeface="Georgia"/>
              </a:rPr>
              <a:t>14–59</a:t>
            </a:r>
            <a:endParaRPr lang="en-US" sz="2600"/>
          </a:p>
        </p:txBody>
      </p:sp>
      <p:sp>
        <p:nvSpPr>
          <p:cNvPr id="21" name="Text 19"/>
          <p:cNvSpPr/>
          <p:nvPr/>
        </p:nvSpPr>
        <p:spPr>
          <a:xfrm>
            <a:off x="301752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60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4254202-6462-0DC5-4B3D-C008CBF015A9}"/>
              </a:ext>
            </a:extLst>
          </p:cNvPr>
          <p:cNvSpPr/>
          <p:nvPr/>
        </p:nvSpPr>
        <p:spPr>
          <a:xfrm>
            <a:off x="548640" y="5110754"/>
            <a:ext cx="4757351" cy="1330411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3E5B02D0-D0DE-F0A6-C58A-6A1D114F2ED9}"/>
              </a:ext>
            </a:extLst>
          </p:cNvPr>
          <p:cNvSpPr/>
          <p:nvPr/>
        </p:nvSpPr>
        <p:spPr>
          <a:xfrm>
            <a:off x="1876991" y="553253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b="1">
                <a:solidFill>
                  <a:srgbClr val="0F3B5C"/>
                </a:solidFill>
                <a:latin typeface="Georgia"/>
              </a:rPr>
              <a:t>&gt;99.9%</a:t>
            </a: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FBB084D5-03BB-FBDA-A93F-0FED84689306}"/>
              </a:ext>
            </a:extLst>
          </p:cNvPr>
          <p:cNvSpPr/>
          <p:nvPr/>
        </p:nvSpPr>
        <p:spPr>
          <a:xfrm>
            <a:off x="548640" y="5237617"/>
            <a:ext cx="4757351" cy="305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kern="0" spc="300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COMPLETENESS OF AGE VARIABLE</a:t>
            </a:r>
            <a:endParaRPr lang="en-US" sz="160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B5875FBF-2615-68E5-427D-C58211E0FDA2}"/>
              </a:ext>
            </a:extLst>
          </p:cNvPr>
          <p:cNvSpPr/>
          <p:nvPr/>
        </p:nvSpPr>
        <p:spPr>
          <a:xfrm>
            <a:off x="1876991" y="6066755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complete</a:t>
            </a:r>
            <a:endParaRPr lang="en-US" sz="1600"/>
          </a:p>
        </p:txBody>
      </p:sp>
      <p:sp>
        <p:nvSpPr>
          <p:cNvPr id="22" name="Text 67">
            <a:extLst>
              <a:ext uri="{FF2B5EF4-FFF2-40B4-BE49-F238E27FC236}">
                <a16:creationId xmlns:a16="http://schemas.microsoft.com/office/drawing/2014/main" id="{EB44F3ED-2C4B-A13B-A4EB-1E91EC392344}"/>
              </a:ext>
            </a:extLst>
          </p:cNvPr>
          <p:cNvSpPr/>
          <p:nvPr/>
        </p:nvSpPr>
        <p:spPr>
          <a:xfrm>
            <a:off x="5498139" y="5991225"/>
            <a:ext cx="6112785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i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Distribution of age at time of appointment</a:t>
            </a:r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4AA8FFE-F13A-8D50-D38B-AC2CC85C5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038" y="2052638"/>
            <a:ext cx="5848350" cy="36290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women come from</a:t>
            </a:r>
            <a:endParaRPr lang="en-US" sz="280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514F1DD-CFAC-CDBA-662B-CBC3DD920639}"/>
              </a:ext>
            </a:extLst>
          </p:cNvPr>
          <p:cNvGrpSpPr/>
          <p:nvPr/>
        </p:nvGrpSpPr>
        <p:grpSpPr>
          <a:xfrm>
            <a:off x="548640" y="1828800"/>
            <a:ext cx="3665220" cy="1554480"/>
            <a:chOff x="548640" y="1828800"/>
            <a:chExt cx="2651760" cy="1554480"/>
          </a:xfrm>
        </p:grpSpPr>
        <p:sp>
          <p:nvSpPr>
            <p:cNvPr id="15" name="Shape 2">
              <a:extLst>
                <a:ext uri="{FF2B5EF4-FFF2-40B4-BE49-F238E27FC236}">
                  <a16:creationId xmlns:a16="http://schemas.microsoft.com/office/drawing/2014/main" id="{E57DCDE1-5B47-D815-5300-2E86478C2173}"/>
                </a:ext>
              </a:extLst>
            </p:cNvPr>
            <p:cNvSpPr/>
            <p:nvPr/>
          </p:nvSpPr>
          <p:spPr>
            <a:xfrm>
              <a:off x="548640" y="1828800"/>
              <a:ext cx="2651760" cy="1554480"/>
            </a:xfrm>
            <a:prstGeom prst="rect">
              <a:avLst/>
            </a:prstGeom>
            <a:solidFill>
              <a:srgbClr val="E8EEF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3">
              <a:extLst>
                <a:ext uri="{FF2B5EF4-FFF2-40B4-BE49-F238E27FC236}">
                  <a16:creationId xmlns:a16="http://schemas.microsoft.com/office/drawing/2014/main" id="{8C595E4C-2B2F-158B-F5E1-E7B209230180}"/>
                </a:ext>
              </a:extLst>
            </p:cNvPr>
            <p:cNvSpPr/>
            <p:nvPr/>
          </p:nvSpPr>
          <p:spPr>
            <a:xfrm>
              <a:off x="548640" y="1920240"/>
              <a:ext cx="265176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800" b="1">
                  <a:solidFill>
                    <a:schemeClr val="tx2"/>
                  </a:solidFill>
                  <a:latin typeface="Georgia"/>
                  <a:ea typeface="Calibri"/>
                  <a:cs typeface="Calibri"/>
                </a:rPr>
                <a:t>84%</a:t>
              </a:r>
              <a:endParaRPr lang="en-US" sz="4800">
                <a:solidFill>
                  <a:schemeClr val="tx2"/>
                </a:solidFill>
                <a:latin typeface="Georgia"/>
                <a:ea typeface="Calibri"/>
                <a:cs typeface="Calibri"/>
              </a:endParaRPr>
            </a:p>
          </p:txBody>
        </p:sp>
        <p:sp>
          <p:nvSpPr>
            <p:cNvPr id="19" name="Text 4">
              <a:extLst>
                <a:ext uri="{FF2B5EF4-FFF2-40B4-BE49-F238E27FC236}">
                  <a16:creationId xmlns:a16="http://schemas.microsoft.com/office/drawing/2014/main" id="{FB3EC264-0064-8E2F-4733-6F4A48336141}"/>
                </a:ext>
              </a:extLst>
            </p:cNvPr>
            <p:cNvSpPr/>
            <p:nvPr/>
          </p:nvSpPr>
          <p:spPr>
            <a:xfrm>
              <a:off x="548640" y="2788920"/>
              <a:ext cx="26517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kern="0" spc="300">
                  <a:solidFill>
                    <a:srgbClr val="5B6B7A"/>
                  </a:solidFill>
                  <a:latin typeface="Calibri"/>
                  <a:ea typeface="Calibri"/>
                  <a:cs typeface="Calibri"/>
                </a:rPr>
                <a:t>live in </a:t>
              </a:r>
              <a:r>
                <a:rPr lang="en-US" sz="1600" b="1" kern="0" spc="300" err="1">
                  <a:solidFill>
                    <a:srgbClr val="5B6B7A"/>
                  </a:solidFill>
                  <a:latin typeface="Calibri"/>
                  <a:ea typeface="Calibri"/>
                  <a:cs typeface="Calibri"/>
                </a:rPr>
                <a:t>Mayuge</a:t>
              </a:r>
              <a:r>
                <a:rPr lang="en-US" sz="1600" b="1" kern="0" spc="300">
                  <a:solidFill>
                    <a:srgbClr val="5B6B7A"/>
                  </a:solidFill>
                  <a:latin typeface="Calibri"/>
                  <a:ea typeface="Calibri"/>
                  <a:cs typeface="Calibri"/>
                </a:rPr>
                <a:t> district</a:t>
              </a:r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5D16E68-8DF1-8FB2-06AB-36986967AB57}"/>
              </a:ext>
            </a:extLst>
          </p:cNvPr>
          <p:cNvGrpSpPr/>
          <p:nvPr/>
        </p:nvGrpSpPr>
        <p:grpSpPr>
          <a:xfrm>
            <a:off x="8046720" y="1824990"/>
            <a:ext cx="3655695" cy="1558290"/>
            <a:chOff x="9056370" y="1824990"/>
            <a:chExt cx="2680335" cy="1558290"/>
          </a:xfrm>
        </p:grpSpPr>
        <p:sp>
          <p:nvSpPr>
            <p:cNvPr id="27" name="Shape 8">
              <a:extLst>
                <a:ext uri="{FF2B5EF4-FFF2-40B4-BE49-F238E27FC236}">
                  <a16:creationId xmlns:a16="http://schemas.microsoft.com/office/drawing/2014/main" id="{AE18F385-4B3A-51F3-9E5D-64986C02E840}"/>
                </a:ext>
              </a:extLst>
            </p:cNvPr>
            <p:cNvSpPr/>
            <p:nvPr/>
          </p:nvSpPr>
          <p:spPr>
            <a:xfrm>
              <a:off x="9056370" y="1828800"/>
              <a:ext cx="2651760" cy="1554480"/>
            </a:xfrm>
            <a:prstGeom prst="rect">
              <a:avLst/>
            </a:prstGeom>
            <a:solidFill>
              <a:srgbClr val="E8EEF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9">
              <a:extLst>
                <a:ext uri="{FF2B5EF4-FFF2-40B4-BE49-F238E27FC236}">
                  <a16:creationId xmlns:a16="http://schemas.microsoft.com/office/drawing/2014/main" id="{F8C7DB85-586C-DBC8-9BE6-5086636368CC}"/>
                </a:ext>
              </a:extLst>
            </p:cNvPr>
            <p:cNvSpPr/>
            <p:nvPr/>
          </p:nvSpPr>
          <p:spPr>
            <a:xfrm>
              <a:off x="9084945" y="1824990"/>
              <a:ext cx="265176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400" b="1">
                  <a:solidFill>
                    <a:schemeClr val="tx2"/>
                  </a:solidFill>
                  <a:latin typeface="Georgia"/>
                </a:rPr>
                <a:t>49</a:t>
              </a:r>
              <a:endParaRPr lang="en-US"/>
            </a:p>
          </p:txBody>
        </p:sp>
        <p:sp>
          <p:nvSpPr>
            <p:cNvPr id="31" name="Text 10">
              <a:extLst>
                <a:ext uri="{FF2B5EF4-FFF2-40B4-BE49-F238E27FC236}">
                  <a16:creationId xmlns:a16="http://schemas.microsoft.com/office/drawing/2014/main" id="{F29F5B66-B8F9-8C27-8DDF-9435BF50467A}"/>
                </a:ext>
              </a:extLst>
            </p:cNvPr>
            <p:cNvSpPr/>
            <p:nvPr/>
          </p:nvSpPr>
          <p:spPr>
            <a:xfrm>
              <a:off x="9084945" y="2693670"/>
              <a:ext cx="26517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kern="0" spc="300">
                  <a:solidFill>
                    <a:srgbClr val="5B6B7A"/>
                  </a:solidFill>
                  <a:latin typeface="Calibri"/>
                  <a:ea typeface="Calibri"/>
                  <a:cs typeface="Calibri"/>
                </a:rPr>
                <a:t>districts represented</a:t>
              </a:r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12AFA42-F1FD-5E59-72DC-33A1C5314D7B}"/>
              </a:ext>
            </a:extLst>
          </p:cNvPr>
          <p:cNvGrpSpPr/>
          <p:nvPr/>
        </p:nvGrpSpPr>
        <p:grpSpPr>
          <a:xfrm>
            <a:off x="4269105" y="1828800"/>
            <a:ext cx="3659504" cy="1554480"/>
            <a:chOff x="3383280" y="1828800"/>
            <a:chExt cx="2655569" cy="1554480"/>
          </a:xfrm>
        </p:grpSpPr>
        <p:sp>
          <p:nvSpPr>
            <p:cNvPr id="21" name="Shape 5">
              <a:extLst>
                <a:ext uri="{FF2B5EF4-FFF2-40B4-BE49-F238E27FC236}">
                  <a16:creationId xmlns:a16="http://schemas.microsoft.com/office/drawing/2014/main" id="{E46F29A7-1A46-BC43-68FD-261C81D86E09}"/>
                </a:ext>
              </a:extLst>
            </p:cNvPr>
            <p:cNvSpPr/>
            <p:nvPr/>
          </p:nvSpPr>
          <p:spPr>
            <a:xfrm>
              <a:off x="3383280" y="1828800"/>
              <a:ext cx="2651760" cy="1554480"/>
            </a:xfrm>
            <a:prstGeom prst="rect">
              <a:avLst/>
            </a:prstGeom>
            <a:solidFill>
              <a:srgbClr val="E8EEF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6">
              <a:extLst>
                <a:ext uri="{FF2B5EF4-FFF2-40B4-BE49-F238E27FC236}">
                  <a16:creationId xmlns:a16="http://schemas.microsoft.com/office/drawing/2014/main" id="{15F31195-F57F-4319-125F-5D740A87947A}"/>
                </a:ext>
              </a:extLst>
            </p:cNvPr>
            <p:cNvSpPr/>
            <p:nvPr/>
          </p:nvSpPr>
          <p:spPr>
            <a:xfrm>
              <a:off x="3383280" y="1920240"/>
              <a:ext cx="265176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4800" b="1">
                  <a:solidFill>
                    <a:schemeClr val="tx2"/>
                  </a:solidFill>
                  <a:latin typeface="Georgia"/>
                </a:rPr>
                <a:t>14%</a:t>
              </a:r>
              <a:endParaRPr lang="en-US" sz="4800">
                <a:solidFill>
                  <a:schemeClr val="tx2"/>
                </a:solidFill>
                <a:latin typeface="Georgia"/>
              </a:endParaRPr>
            </a:p>
          </p:txBody>
        </p:sp>
        <p:sp>
          <p:nvSpPr>
            <p:cNvPr id="25" name="Text 7">
              <a:extLst>
                <a:ext uri="{FF2B5EF4-FFF2-40B4-BE49-F238E27FC236}">
                  <a16:creationId xmlns:a16="http://schemas.microsoft.com/office/drawing/2014/main" id="{8F175AAC-3A46-687F-57CA-E75E95193A6A}"/>
                </a:ext>
              </a:extLst>
            </p:cNvPr>
            <p:cNvSpPr/>
            <p:nvPr/>
          </p:nvSpPr>
          <p:spPr>
            <a:xfrm>
              <a:off x="3383280" y="2788920"/>
              <a:ext cx="26517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endParaRPr lang="en-US" sz="1600" b="1" kern="0" spc="300">
                <a:solidFill>
                  <a:srgbClr val="5B6B7A"/>
                </a:solidFill>
                <a:ea typeface="Calibri"/>
                <a:cs typeface="Calibri"/>
              </a:endParaRPr>
            </a:p>
          </p:txBody>
        </p:sp>
        <p:sp>
          <p:nvSpPr>
            <p:cNvPr id="38" name="Text 4">
              <a:extLst>
                <a:ext uri="{FF2B5EF4-FFF2-40B4-BE49-F238E27FC236}">
                  <a16:creationId xmlns:a16="http://schemas.microsoft.com/office/drawing/2014/main" id="{63D585F4-0397-3E08-AC66-99A626D78225}"/>
                </a:ext>
              </a:extLst>
            </p:cNvPr>
            <p:cNvSpPr/>
            <p:nvPr/>
          </p:nvSpPr>
          <p:spPr>
            <a:xfrm>
              <a:off x="3387089" y="2836544"/>
              <a:ext cx="26517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kern="0" spc="300">
                  <a:solidFill>
                    <a:srgbClr val="5B6B7A"/>
                  </a:solidFill>
                  <a:latin typeface="Calibri"/>
                  <a:ea typeface="Calibri"/>
                  <a:cs typeface="Calibri"/>
                </a:rPr>
                <a:t>lack a district at all</a:t>
              </a:r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BB0C740-701E-ED15-739B-0A6219EB14E8}"/>
              </a:ext>
            </a:extLst>
          </p:cNvPr>
          <p:cNvGrpSpPr/>
          <p:nvPr/>
        </p:nvGrpSpPr>
        <p:grpSpPr>
          <a:xfrm>
            <a:off x="6151245" y="3581400"/>
            <a:ext cx="5547360" cy="2912745"/>
            <a:chOff x="6170295" y="3562350"/>
            <a:chExt cx="5547360" cy="2912745"/>
          </a:xfrm>
        </p:grpSpPr>
        <p:sp>
          <p:nvSpPr>
            <p:cNvPr id="43" name="Shape 11">
              <a:extLst>
                <a:ext uri="{FF2B5EF4-FFF2-40B4-BE49-F238E27FC236}">
                  <a16:creationId xmlns:a16="http://schemas.microsoft.com/office/drawing/2014/main" id="{A2FDB2C4-FF3F-8FA0-81C1-39EE220A20AF}"/>
                </a:ext>
              </a:extLst>
            </p:cNvPr>
            <p:cNvSpPr/>
            <p:nvPr/>
          </p:nvSpPr>
          <p:spPr>
            <a:xfrm>
              <a:off x="6170295" y="3562350"/>
              <a:ext cx="5547360" cy="2912745"/>
            </a:xfrm>
            <a:prstGeom prst="rect">
              <a:avLst/>
            </a:prstGeom>
            <a:solidFill>
              <a:srgbClr val="0F3B5C"/>
            </a:solidFill>
            <a:ln/>
          </p:spPr>
          <p:txBody>
            <a:bodyPr lIns="91440" tIns="45720" rIns="91440" bIns="45720" anchor="t"/>
            <a:lstStyle/>
            <a:p>
              <a:endParaRPr lang="en-US">
                <a:ea typeface="Calibri"/>
                <a:cs typeface="Calibri"/>
              </a:endParaRPr>
            </a:p>
            <a:p>
              <a:endParaRPr lang="en-US">
                <a:ea typeface="Calibri"/>
                <a:cs typeface="Calibri"/>
              </a:endParaRPr>
            </a:p>
            <a:p>
              <a:r>
                <a:rPr lang="en-US">
                  <a:solidFill>
                    <a:schemeClr val="bg1"/>
                  </a:solidFill>
                  <a:ea typeface="Calibri"/>
                  <a:cs typeface="Calibri"/>
                </a:rPr>
                <a:t>Top 5: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>
                  <a:solidFill>
                    <a:schemeClr val="bg1"/>
                  </a:solidFill>
                  <a:ea typeface="Calibri"/>
                  <a:cs typeface="Calibri"/>
                </a:rPr>
                <a:t>Jinja: 41 patients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>
                  <a:solidFill>
                    <a:schemeClr val="bg1"/>
                  </a:solidFill>
                  <a:ea typeface="Calibri"/>
                  <a:cs typeface="Calibri"/>
                </a:rPr>
                <a:t>Iganga: 30 patients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err="1">
                  <a:solidFill>
                    <a:schemeClr val="bg1"/>
                  </a:solidFill>
                  <a:ea typeface="Calibri"/>
                  <a:cs typeface="Calibri"/>
                </a:rPr>
                <a:t>Bugweri</a:t>
              </a:r>
              <a:r>
                <a:rPr lang="en-US">
                  <a:solidFill>
                    <a:schemeClr val="bg1"/>
                  </a:solidFill>
                  <a:ea typeface="Calibri"/>
                  <a:cs typeface="Calibri"/>
                </a:rPr>
                <a:t>: 18 patients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>
                  <a:solidFill>
                    <a:schemeClr val="bg1"/>
                  </a:solidFill>
                  <a:ea typeface="Calibri"/>
                  <a:cs typeface="Calibri"/>
                </a:rPr>
                <a:t>Luuka: 18 patients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>
                  <a:solidFill>
                    <a:schemeClr val="bg1"/>
                  </a:solidFill>
                  <a:ea typeface="Calibri"/>
                  <a:cs typeface="Calibri"/>
                </a:rPr>
                <a:t>Kampala: 17 patients</a:t>
              </a:r>
            </a:p>
          </p:txBody>
        </p:sp>
        <p:sp>
          <p:nvSpPr>
            <p:cNvPr id="45" name="Text 12">
              <a:extLst>
                <a:ext uri="{FF2B5EF4-FFF2-40B4-BE49-F238E27FC236}">
                  <a16:creationId xmlns:a16="http://schemas.microsoft.com/office/drawing/2014/main" id="{F54880D3-7C9E-974E-C92B-C57FF4C391BE}"/>
                </a:ext>
              </a:extLst>
            </p:cNvPr>
            <p:cNvSpPr/>
            <p:nvPr/>
          </p:nvSpPr>
          <p:spPr>
            <a:xfrm>
              <a:off x="6444615" y="3733800"/>
              <a:ext cx="4846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kern="0" spc="300">
                  <a:solidFill>
                    <a:srgbClr val="F18F01"/>
                  </a:solidFill>
                  <a:latin typeface="Calibri"/>
                  <a:ea typeface="Calibri"/>
                  <a:cs typeface="Calibri"/>
                </a:rPr>
                <a:t>OTHER DISTRICTS REPRESENTED</a:t>
              </a:r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6B0B4B5-D125-5A0B-33A7-B06C265FFA90}"/>
              </a:ext>
            </a:extLst>
          </p:cNvPr>
          <p:cNvGrpSpPr/>
          <p:nvPr/>
        </p:nvGrpSpPr>
        <p:grpSpPr>
          <a:xfrm>
            <a:off x="550545" y="3581399"/>
            <a:ext cx="5423535" cy="2912745"/>
            <a:chOff x="6113145" y="3562350"/>
            <a:chExt cx="5547360" cy="2912745"/>
          </a:xfrm>
        </p:grpSpPr>
        <p:sp>
          <p:nvSpPr>
            <p:cNvPr id="48" name="Shape 11">
              <a:extLst>
                <a:ext uri="{FF2B5EF4-FFF2-40B4-BE49-F238E27FC236}">
                  <a16:creationId xmlns:a16="http://schemas.microsoft.com/office/drawing/2014/main" id="{AAFDE16D-D028-C787-A116-F4DF4E954E31}"/>
                </a:ext>
              </a:extLst>
            </p:cNvPr>
            <p:cNvSpPr/>
            <p:nvPr/>
          </p:nvSpPr>
          <p:spPr>
            <a:xfrm>
              <a:off x="6113145" y="3562350"/>
              <a:ext cx="5547360" cy="2912745"/>
            </a:xfrm>
            <a:prstGeom prst="rect">
              <a:avLst/>
            </a:prstGeom>
            <a:solidFill>
              <a:srgbClr val="0F3B5C"/>
            </a:solidFill>
            <a:ln/>
          </p:spPr>
          <p:txBody>
            <a:bodyPr lIns="91440" tIns="45720" rIns="91440" bIns="45720" anchor="t"/>
            <a:lstStyle/>
            <a:p>
              <a:endParaRPr lang="en-US">
                <a:ea typeface="Calibri"/>
                <a:cs typeface="Calibri"/>
              </a:endParaRPr>
            </a:p>
            <a:p>
              <a:endParaRPr lang="en-US">
                <a:ea typeface="Calibri"/>
                <a:cs typeface="Calibri"/>
              </a:endParaRPr>
            </a:p>
            <a:p>
              <a:r>
                <a:rPr lang="en-US">
                  <a:solidFill>
                    <a:schemeClr val="bg1"/>
                  </a:solidFill>
                  <a:ea typeface="Calibri"/>
                  <a:cs typeface="Calibri"/>
                </a:rPr>
                <a:t>Top 5: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err="1">
                  <a:solidFill>
                    <a:schemeClr val="bg1"/>
                  </a:solidFill>
                  <a:ea typeface="Calibri"/>
                  <a:cs typeface="Calibri"/>
                </a:rPr>
                <a:t>Kasugu</a:t>
              </a:r>
              <a:r>
                <a:rPr lang="en-US">
                  <a:solidFill>
                    <a:schemeClr val="bg1"/>
                  </a:solidFill>
                  <a:ea typeface="Calibri"/>
                  <a:cs typeface="Calibri"/>
                </a:rPr>
                <a:t>: 826 patients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err="1">
                  <a:solidFill>
                    <a:schemeClr val="bg1"/>
                  </a:solidFill>
                  <a:ea typeface="Calibri"/>
                  <a:cs typeface="Calibri"/>
                </a:rPr>
                <a:t>Lugolole</a:t>
              </a:r>
              <a:r>
                <a:rPr lang="en-US">
                  <a:solidFill>
                    <a:schemeClr val="bg1"/>
                  </a:solidFill>
                  <a:ea typeface="Calibri"/>
                  <a:cs typeface="Calibri"/>
                </a:rPr>
                <a:t>: 588 patients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err="1">
                  <a:solidFill>
                    <a:schemeClr val="bg1"/>
                  </a:solidFill>
                  <a:ea typeface="+mn-lt"/>
                  <a:cs typeface="+mn-lt"/>
                </a:rPr>
                <a:t>Buwolya</a:t>
              </a:r>
              <a:r>
                <a:rPr lang="en-US">
                  <a:solidFill>
                    <a:schemeClr val="bg1"/>
                  </a:solidFill>
                  <a:ea typeface="Calibri"/>
                  <a:cs typeface="Calibri"/>
                </a:rPr>
                <a:t>: 518 patients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err="1">
                  <a:solidFill>
                    <a:schemeClr val="bg1"/>
                  </a:solidFill>
                  <a:ea typeface="Calibri"/>
                  <a:cs typeface="Calibri"/>
                </a:rPr>
                <a:t>Ikulwe</a:t>
              </a:r>
              <a:r>
                <a:rPr lang="en-US">
                  <a:solidFill>
                    <a:schemeClr val="bg1"/>
                  </a:solidFill>
                  <a:ea typeface="Calibri"/>
                  <a:cs typeface="Calibri"/>
                </a:rPr>
                <a:t>: 416 patients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>
                  <a:solidFill>
                    <a:schemeClr val="bg1"/>
                  </a:solidFill>
                  <a:ea typeface="Calibri"/>
                  <a:cs typeface="Calibri"/>
                </a:rPr>
                <a:t>Maina: 401 patients</a:t>
              </a:r>
            </a:p>
          </p:txBody>
        </p:sp>
        <p:sp>
          <p:nvSpPr>
            <p:cNvPr id="49" name="Text 12">
              <a:extLst>
                <a:ext uri="{FF2B5EF4-FFF2-40B4-BE49-F238E27FC236}">
                  <a16:creationId xmlns:a16="http://schemas.microsoft.com/office/drawing/2014/main" id="{A1081054-CD9C-C45A-DA34-1073781C6CF5}"/>
                </a:ext>
              </a:extLst>
            </p:cNvPr>
            <p:cNvSpPr/>
            <p:nvPr/>
          </p:nvSpPr>
          <p:spPr>
            <a:xfrm>
              <a:off x="6444615" y="3733800"/>
              <a:ext cx="513859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kern="0" spc="300">
                  <a:solidFill>
                    <a:srgbClr val="F18F01"/>
                  </a:solidFill>
                  <a:ea typeface="Calibri"/>
                  <a:cs typeface="Calibri"/>
                </a:rPr>
                <a:t>COMMON PARISHES OF MAYUGE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HISTORY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Obstetric profile</a:t>
            </a:r>
            <a:endParaRPr lang="en-US" sz="28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552A92A-6856-A5A2-43A2-68302C82F0C1}"/>
              </a:ext>
            </a:extLst>
          </p:cNvPr>
          <p:cNvGrpSpPr/>
          <p:nvPr/>
        </p:nvGrpSpPr>
        <p:grpSpPr>
          <a:xfrm>
            <a:off x="548640" y="1828800"/>
            <a:ext cx="3652657" cy="1371600"/>
            <a:chOff x="548640" y="1828800"/>
            <a:chExt cx="2651760" cy="1371600"/>
          </a:xfrm>
        </p:grpSpPr>
        <p:sp>
          <p:nvSpPr>
            <p:cNvPr id="6" name="Shape 4"/>
            <p:cNvSpPr/>
            <p:nvPr/>
          </p:nvSpPr>
          <p:spPr>
            <a:xfrm>
              <a:off x="548640" y="1828800"/>
              <a:ext cx="2651760" cy="1371600"/>
            </a:xfrm>
            <a:prstGeom prst="rect">
              <a:avLst/>
            </a:prstGeom>
            <a:solidFill>
              <a:srgbClr val="E8EEF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548640" y="1965960"/>
              <a:ext cx="2651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kern="0" spc="300">
                  <a:solidFill>
                    <a:srgbClr val="5B6B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MEDIAN GRAVIDA</a:t>
              </a:r>
              <a:endParaRPr lang="en-US" sz="1600"/>
            </a:p>
          </p:txBody>
        </p:sp>
        <p:sp>
          <p:nvSpPr>
            <p:cNvPr id="8" name="Text 6"/>
            <p:cNvSpPr/>
            <p:nvPr/>
          </p:nvSpPr>
          <p:spPr>
            <a:xfrm>
              <a:off x="548640" y="2240280"/>
              <a:ext cx="26517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>
                  <a:solidFill>
                    <a:srgbClr val="0F3B5C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3</a:t>
              </a:r>
              <a:endParaRPr lang="en-US" sz="2800"/>
            </a:p>
          </p:txBody>
        </p:sp>
        <p:sp>
          <p:nvSpPr>
            <p:cNvPr id="9" name="Text 7"/>
            <p:cNvSpPr/>
            <p:nvPr/>
          </p:nvSpPr>
          <p:spPr>
            <a:xfrm>
              <a:off x="548640" y="2834640"/>
              <a:ext cx="26517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i="1">
                  <a:solidFill>
                    <a:srgbClr val="5B6B7A"/>
                  </a:solidFill>
                  <a:latin typeface="Calibri"/>
                  <a:ea typeface="Calibri"/>
                  <a:cs typeface="Calibri"/>
                </a:rPr>
                <a:t>(IQR 2–5)</a:t>
              </a:r>
              <a:endParaRPr lang="en-US" sz="160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EDBA987-7CC4-90B5-EB11-1FC3C48D3DC1}"/>
              </a:ext>
            </a:extLst>
          </p:cNvPr>
          <p:cNvGrpSpPr/>
          <p:nvPr/>
        </p:nvGrpSpPr>
        <p:grpSpPr>
          <a:xfrm>
            <a:off x="8006766" y="1828800"/>
            <a:ext cx="3662954" cy="1371600"/>
            <a:chOff x="3383280" y="1828800"/>
            <a:chExt cx="2651760" cy="1371600"/>
          </a:xfrm>
        </p:grpSpPr>
        <p:sp>
          <p:nvSpPr>
            <p:cNvPr id="10" name="Shape 8"/>
            <p:cNvSpPr/>
            <p:nvPr/>
          </p:nvSpPr>
          <p:spPr>
            <a:xfrm>
              <a:off x="3383280" y="1828800"/>
              <a:ext cx="2651760" cy="1371600"/>
            </a:xfrm>
            <a:prstGeom prst="rect">
              <a:avLst/>
            </a:prstGeom>
            <a:solidFill>
              <a:srgbClr val="E8EEF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3383280" y="1965960"/>
              <a:ext cx="2651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kern="0" spc="300">
                  <a:solidFill>
                    <a:srgbClr val="5B6B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MEDIAN PARITY</a:t>
              </a:r>
              <a:endParaRPr lang="en-US" sz="1600"/>
            </a:p>
          </p:txBody>
        </p:sp>
        <p:sp>
          <p:nvSpPr>
            <p:cNvPr id="12" name="Text 10"/>
            <p:cNvSpPr/>
            <p:nvPr/>
          </p:nvSpPr>
          <p:spPr>
            <a:xfrm>
              <a:off x="3383280" y="2240280"/>
              <a:ext cx="26517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>
                  <a:solidFill>
                    <a:srgbClr val="0F3B5C"/>
                  </a:solidFill>
                  <a:latin typeface="Georgia"/>
                </a:rPr>
                <a:t>1+0</a:t>
              </a:r>
            </a:p>
          </p:txBody>
        </p:sp>
        <p:sp>
          <p:nvSpPr>
            <p:cNvPr id="13" name="Text 11"/>
            <p:cNvSpPr/>
            <p:nvPr/>
          </p:nvSpPr>
          <p:spPr>
            <a:xfrm>
              <a:off x="3383280" y="2834640"/>
              <a:ext cx="26517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i="1">
                  <a:solidFill>
                    <a:srgbClr val="5B6B7A"/>
                  </a:solidFill>
                  <a:ea typeface="Calibri"/>
                  <a:cs typeface="Calibri"/>
                </a:rPr>
                <a:t>(63% missing data)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0855C09-E6C9-F4D0-2DC0-9BF9EF92B8BA}"/>
              </a:ext>
            </a:extLst>
          </p:cNvPr>
          <p:cNvGrpSpPr/>
          <p:nvPr/>
        </p:nvGrpSpPr>
        <p:grpSpPr>
          <a:xfrm>
            <a:off x="4261434" y="1828800"/>
            <a:ext cx="3662954" cy="1371600"/>
            <a:chOff x="6217920" y="1828800"/>
            <a:chExt cx="2651760" cy="1371600"/>
          </a:xfrm>
        </p:grpSpPr>
        <p:sp>
          <p:nvSpPr>
            <p:cNvPr id="14" name="Shape 12"/>
            <p:cNvSpPr/>
            <p:nvPr/>
          </p:nvSpPr>
          <p:spPr>
            <a:xfrm>
              <a:off x="6217920" y="1828800"/>
              <a:ext cx="2651760" cy="1371600"/>
            </a:xfrm>
            <a:prstGeom prst="rect">
              <a:avLst/>
            </a:prstGeom>
            <a:solidFill>
              <a:srgbClr val="E8EEF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6217920" y="1965960"/>
              <a:ext cx="2651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kern="0" spc="300">
                  <a:solidFill>
                    <a:srgbClr val="5B6B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PRIMIGRAVIDA</a:t>
              </a:r>
              <a:endParaRPr lang="en-US" sz="1600"/>
            </a:p>
          </p:txBody>
        </p:sp>
        <p:sp>
          <p:nvSpPr>
            <p:cNvPr id="16" name="Text 14"/>
            <p:cNvSpPr/>
            <p:nvPr/>
          </p:nvSpPr>
          <p:spPr>
            <a:xfrm>
              <a:off x="6217920" y="2240280"/>
              <a:ext cx="26517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>
                  <a:solidFill>
                    <a:srgbClr val="0F3B5C"/>
                  </a:solidFill>
                  <a:latin typeface="Georgia"/>
                  <a:ea typeface="Georgia" pitchFamily="34" charset="-122"/>
                  <a:cs typeface="Georgia" pitchFamily="34" charset="-120"/>
                </a:rPr>
                <a:t>25%</a:t>
              </a:r>
              <a:endParaRPr lang="en-US" sz="2800">
                <a:latin typeface="Georgia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6217920" y="2834640"/>
              <a:ext cx="26517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i="1">
                  <a:solidFill>
                    <a:srgbClr val="5B6B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first pregnancy</a:t>
              </a:r>
              <a:endParaRPr lang="en-US" sz="1600"/>
            </a:p>
          </p:txBody>
        </p:sp>
      </p:grpSp>
      <p:pic>
        <p:nvPicPr>
          <p:cNvPr id="26" name="Picture 25" descr="A graph of a number of pregnancy&#10;&#10;AI-generated content may be incorrect.">
            <a:extLst>
              <a:ext uri="{FF2B5EF4-FFF2-40B4-BE49-F238E27FC236}">
                <a16:creationId xmlns:a16="http://schemas.microsoft.com/office/drawing/2014/main" id="{B715ECC1-6E9E-E58F-E9C9-7D8F3DDDE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61" y="3427069"/>
            <a:ext cx="5469153" cy="2825321"/>
          </a:xfrm>
          <a:prstGeom prst="rect">
            <a:avLst/>
          </a:prstGeom>
        </p:spPr>
      </p:pic>
      <p:pic>
        <p:nvPicPr>
          <p:cNvPr id="31" name="Picture 30" descr="A graph of pregnancy&#10;&#10;AI-generated content may be incorrect.">
            <a:extLst>
              <a:ext uri="{FF2B5EF4-FFF2-40B4-BE49-F238E27FC236}">
                <a16:creationId xmlns:a16="http://schemas.microsoft.com/office/drawing/2014/main" id="{A463A28C-DC72-B736-9985-8A992A1B8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672" y="3427069"/>
            <a:ext cx="5615115" cy="302096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 ENGAGEMENT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many times each woman attended</a:t>
            </a:r>
            <a:endParaRPr lang="en-US" sz="280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51760" cy="137160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VISITS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F3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(IQR 1–3)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651760" cy="137160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SINGLE-VISIT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3383280" y="2240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F3B5C"/>
                </a:solidFill>
                <a:latin typeface="Georgia"/>
                <a:ea typeface="Georgia" pitchFamily="34" charset="-122"/>
                <a:cs typeface="Georgia" pitchFamily="34" charset="-120"/>
              </a:rPr>
              <a:t>45%</a:t>
            </a:r>
            <a:endParaRPr lang="en-US" sz="2800">
              <a:latin typeface="Georgi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83280" y="2834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attended once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651760" cy="137160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ANC4+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6217920" y="2240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F3B5C"/>
                </a:solidFill>
                <a:latin typeface="Georgia"/>
                <a:ea typeface="Georgia" pitchFamily="34" charset="-122"/>
                <a:cs typeface="Georgia" pitchFamily="34" charset="-120"/>
              </a:rPr>
              <a:t>22%</a:t>
            </a:r>
            <a:endParaRPr lang="en-US" sz="2800">
              <a:latin typeface="Georgi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17920" y="2834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4+ visits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9052560" y="1828800"/>
            <a:ext cx="2651760" cy="1371600"/>
          </a:xfrm>
          <a:prstGeom prst="rect">
            <a:avLst/>
          </a:prstGeom>
          <a:solidFill>
            <a:srgbClr val="E8EE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05256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OBSERVED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9052560" y="2240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F3B5C"/>
                </a:solidFill>
                <a:latin typeface="Georgia"/>
              </a:rPr>
              <a:t>11</a:t>
            </a:r>
          </a:p>
        </p:txBody>
      </p:sp>
      <p:sp>
        <p:nvSpPr>
          <p:cNvPr id="21" name="Text 19"/>
          <p:cNvSpPr/>
          <p:nvPr/>
        </p:nvSpPr>
        <p:spPr>
          <a:xfrm>
            <a:off x="9052560" y="2834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in window</a:t>
            </a:r>
            <a:endParaRPr lang="en-US" sz="1600"/>
          </a:p>
        </p:txBody>
      </p:sp>
      <p:pic>
        <p:nvPicPr>
          <p:cNvPr id="24" name="Picture 23" descr="A graph with blue lines&#10;&#10;AI-generated content may be incorrect.">
            <a:extLst>
              <a:ext uri="{FF2B5EF4-FFF2-40B4-BE49-F238E27FC236}">
                <a16:creationId xmlns:a16="http://schemas.microsoft.com/office/drawing/2014/main" id="{00ECA19A-A27F-35E5-6F5B-B72C04475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163" y="3281363"/>
            <a:ext cx="9591675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VISITS TO PATIENTS — AND ONWARDS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9,497 women now</a:t>
            </a:r>
            <a:endParaRPr lang="en-US" sz="4400">
              <a:latin typeface="Georgia"/>
            </a:endParaRPr>
          </a:p>
          <a:p>
            <a:r>
              <a:rPr lang="en-US" sz="44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identifiable across all 22,037 visits.</a:t>
            </a:r>
            <a:endParaRPr lang="en-US" sz="4400">
              <a:latin typeface="Georgia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44805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With the linkage in hand, we can now link forward to delivery and postnatal datasets, investigate maternal and child outcomes, and build the first AI-ready perinatal cohort from this catchment.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14400" y="5852160"/>
            <a:ext cx="731520" cy="54864"/>
          </a:xfrm>
          <a:prstGeom prst="rect">
            <a:avLst/>
          </a:prstGeom>
          <a:solidFill>
            <a:srgbClr val="E36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5989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2317</Words>
  <Application>Microsoft Macintosh PowerPoint</Application>
  <PresentationFormat>Widescreen</PresentationFormat>
  <Paragraphs>442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ANC Linkage and Baseline Profile</dc:title>
  <dc:subject>PptxGenJS Presentation</dc:subject>
  <dc:creator>MIHRI Data Team</dc:creator>
  <cp:lastModifiedBy>Josiline Chemutai</cp:lastModifiedBy>
  <cp:revision>106</cp:revision>
  <dcterms:created xsi:type="dcterms:W3CDTF">2026-05-28T13:00:41Z</dcterms:created>
  <dcterms:modified xsi:type="dcterms:W3CDTF">2026-06-08T17:18:14Z</dcterms:modified>
</cp:coreProperties>
</file>